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3" r:id="rId2"/>
    <p:sldId id="259" r:id="rId3"/>
    <p:sldId id="256" r:id="rId4"/>
    <p:sldId id="261" r:id="rId5"/>
    <p:sldId id="266" r:id="rId6"/>
    <p:sldId id="260" r:id="rId7"/>
    <p:sldId id="257" r:id="rId8"/>
    <p:sldId id="268" r:id="rId9"/>
    <p:sldId id="265" r:id="rId10"/>
    <p:sldId id="262" r:id="rId11"/>
    <p:sldId id="276" r:id="rId12"/>
    <p:sldId id="269" r:id="rId13"/>
    <p:sldId id="258" r:id="rId14"/>
    <p:sldId id="270" r:id="rId15"/>
    <p:sldId id="267" r:id="rId16"/>
    <p:sldId id="264" r:id="rId17"/>
    <p:sldId id="273" r:id="rId18"/>
    <p:sldId id="271" r:id="rId19"/>
    <p:sldId id="272" r:id="rId20"/>
    <p:sldId id="274" r:id="rId21"/>
    <p:sldId id="275" r:id="rId22"/>
    <p:sldId id="277" r:id="rId2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9-26T13:45:25.386" idx="1">
    <p:pos x="10" y="10"/>
    <p:text>https://regi.tankonyvtar.hu/hu/tartalom/tamop425/2011_0001_521_Boraszati_technologia/ch01.html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83E99-2545-4F41-A8D2-985EEE718D73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11F22-8B4D-48DC-A7F7-D566C4D21A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98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 smtClean="0"/>
              <a:t>Szőlőszüret és borkészítés az ősi Egyiptomban</a:t>
            </a:r>
          </a:p>
          <a:p>
            <a:r>
              <a:rPr lang="hu-HU" dirty="0" smtClean="0"/>
              <a:t>Kép: https://regi.tankonyvtar.hu/hu/tartalom/tamop425/2011_0001_521_Boraszati_technologia/ch01.html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11F22-8B4D-48DC-A7F7-D566C4D21AD4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3546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11F22-8B4D-48DC-A7F7-D566C4D21AD4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5277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https://bb.hu/hogyan-keszul-a-bor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11F22-8B4D-48DC-A7F7-D566C4D21AD4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0422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https://bb.hu/hogyan-keszul-a-bor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11F22-8B4D-48DC-A7F7-D566C4D21AD4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7314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https://www.boraszportal.hu/magyarorszag-borvidekei/balatonboglari-borvidek-7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11F22-8B4D-48DC-A7F7-D566C4D21AD4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51816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dirty="0" smtClean="0"/>
              <a:t>https://szupermenta.hu/hogyan-keszul-a-roze/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11F22-8B4D-48DC-A7F7-D566C4D21AD4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0556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https://bb.hu/hogyan-keszul-a-bor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11F22-8B4D-48DC-A7F7-D566C4D21AD4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156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https://dubicz.hu/hogyan-keszulnek-a-kulonbozo-tipusu-borok/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11F22-8B4D-48DC-A7F7-D566C4D21AD4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9751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https://tudasbazis.sulinet.hu/HU/szakkepzes/elelmiszeripar/nyersanyagok-feldolgozasa-az-elelmiszeriparban/a-borok-fo-tipusai/szensavas-borok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11F22-8B4D-48DC-A7F7-D566C4D21AD4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7973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https://bb.hu/hogyan-keszul-a-bor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11F22-8B4D-48DC-A7F7-D566C4D21AD4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2254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8716-53DC-4283-84EC-455E2A5B530C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28EF-0765-4C5C-8132-E76EF79169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4534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8716-53DC-4283-84EC-455E2A5B530C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28EF-0765-4C5C-8132-E76EF79169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91198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8716-53DC-4283-84EC-455E2A5B530C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28EF-0765-4C5C-8132-E76EF79169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514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8716-53DC-4283-84EC-455E2A5B530C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28EF-0765-4C5C-8132-E76EF79169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601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8716-53DC-4283-84EC-455E2A5B530C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28EF-0765-4C5C-8132-E76EF79169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8809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8716-53DC-4283-84EC-455E2A5B530C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28EF-0765-4C5C-8132-E76EF79169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389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8716-53DC-4283-84EC-455E2A5B530C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28EF-0765-4C5C-8132-E76EF79169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5708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8716-53DC-4283-84EC-455E2A5B530C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28EF-0765-4C5C-8132-E76EF79169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7380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8716-53DC-4283-84EC-455E2A5B530C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28EF-0765-4C5C-8132-E76EF79169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3166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8716-53DC-4283-84EC-455E2A5B530C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28EF-0765-4C5C-8132-E76EF79169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5541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8716-53DC-4283-84EC-455E2A5B530C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28EF-0765-4C5C-8132-E76EF79169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2934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88716-53DC-4283-84EC-455E2A5B530C}" type="datetimeFigureOut">
              <a:rPr lang="hu-HU" smtClean="0"/>
              <a:t>2021. 10. 15.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528EF-0765-4C5C-8132-E76EF79169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4479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mathiasz.hu/egyeb/szabadulj-be-a-mathiaszba-jatek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73654" y="247427"/>
            <a:ext cx="10515600" cy="2506532"/>
          </a:xfrm>
        </p:spPr>
        <p:txBody>
          <a:bodyPr>
            <a:noAutofit/>
          </a:bodyPr>
          <a:lstStyle/>
          <a:p>
            <a:pPr algn="ctr"/>
            <a:r>
              <a:rPr lang="hu-HU" sz="6600" b="1" dirty="0" smtClean="0"/>
              <a:t>Szőlőtől a borig</a:t>
            </a:r>
            <a:br>
              <a:rPr lang="hu-HU" sz="6600" b="1" dirty="0" smtClean="0"/>
            </a:br>
            <a:r>
              <a:rPr lang="hu-HU" sz="6600" dirty="0" smtClean="0"/>
              <a:t>A játék készült a Mathiász nyílt napra</a:t>
            </a:r>
            <a:endParaRPr lang="hu-HU" sz="6600" dirty="0"/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475" y="2753959"/>
            <a:ext cx="6863570" cy="396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hu-HU" sz="6600" dirty="0" smtClean="0"/>
              <a:t>Nézd meg alaposan a következő ábrákat, és próbálj meg válaszolni a kérdésekre.</a:t>
            </a:r>
            <a:endParaRPr lang="hu-HU" sz="6600" dirty="0"/>
          </a:p>
        </p:txBody>
      </p:sp>
    </p:spTree>
    <p:extLst>
      <p:ext uri="{BB962C8B-B14F-4D97-AF65-F5344CB8AC3E}">
        <p14:creationId xmlns:p14="http://schemas.microsoft.com/office/powerpoint/2010/main" val="24579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125261" y="504079"/>
            <a:ext cx="1227551" cy="86429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203548" y="5553205"/>
            <a:ext cx="1127342" cy="8141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>
            <a:off x="1929008" y="2818356"/>
            <a:ext cx="1402915" cy="1052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/>
          <p:cNvSpPr/>
          <p:nvPr/>
        </p:nvSpPr>
        <p:spPr>
          <a:xfrm>
            <a:off x="4146115" y="66387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/>
          <p:cNvSpPr/>
          <p:nvPr/>
        </p:nvSpPr>
        <p:spPr>
          <a:xfrm>
            <a:off x="4146114" y="206679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/>
          <p:cNvSpPr/>
          <p:nvPr/>
        </p:nvSpPr>
        <p:spPr>
          <a:xfrm>
            <a:off x="4146114" y="362210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/>
          <p:cNvSpPr/>
          <p:nvPr/>
        </p:nvSpPr>
        <p:spPr>
          <a:xfrm>
            <a:off x="4146113" y="528598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/>
          <p:cNvSpPr/>
          <p:nvPr/>
        </p:nvSpPr>
        <p:spPr>
          <a:xfrm>
            <a:off x="5876794" y="29686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/>
          <p:cNvSpPr/>
          <p:nvPr/>
        </p:nvSpPr>
        <p:spPr>
          <a:xfrm>
            <a:off x="7607474" y="29686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/>
          <p:cNvSpPr/>
          <p:nvPr/>
        </p:nvSpPr>
        <p:spPr>
          <a:xfrm>
            <a:off x="10085537" y="646331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/>
          <p:cNvSpPr/>
          <p:nvPr/>
        </p:nvSpPr>
        <p:spPr>
          <a:xfrm>
            <a:off x="10085538" y="206679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/>
          <p:cNvSpPr/>
          <p:nvPr/>
        </p:nvSpPr>
        <p:spPr>
          <a:xfrm>
            <a:off x="10085538" y="362210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/>
          <p:cNvSpPr/>
          <p:nvPr/>
        </p:nvSpPr>
        <p:spPr>
          <a:xfrm>
            <a:off x="10085538" y="517742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Szövegdoboz 16"/>
          <p:cNvSpPr txBox="1"/>
          <p:nvPr/>
        </p:nvSpPr>
        <p:spPr>
          <a:xfrm>
            <a:off x="254173" y="646331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Fehér szőlő</a:t>
            </a:r>
            <a:endParaRPr lang="hu-HU" dirty="0"/>
          </a:p>
        </p:txBody>
      </p:sp>
      <p:sp>
        <p:nvSpPr>
          <p:cNvPr id="18" name="Szövegdoboz 17"/>
          <p:cNvSpPr txBox="1"/>
          <p:nvPr/>
        </p:nvSpPr>
        <p:spPr>
          <a:xfrm>
            <a:off x="267741" y="5636714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Vörös szőlő</a:t>
            </a:r>
            <a:endParaRPr lang="hu-HU" dirty="0"/>
          </a:p>
        </p:txBody>
      </p:sp>
      <p:sp>
        <p:nvSpPr>
          <p:cNvPr id="19" name="Szövegdoboz 18"/>
          <p:cNvSpPr txBox="1"/>
          <p:nvPr/>
        </p:nvSpPr>
        <p:spPr>
          <a:xfrm>
            <a:off x="2174310" y="3021283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Zúzó-bogyózó</a:t>
            </a:r>
            <a:endParaRPr lang="hu-HU" dirty="0"/>
          </a:p>
        </p:txBody>
      </p:sp>
      <p:sp>
        <p:nvSpPr>
          <p:cNvPr id="20" name="Szövegdoboz 19"/>
          <p:cNvSpPr txBox="1"/>
          <p:nvPr/>
        </p:nvSpPr>
        <p:spPr>
          <a:xfrm>
            <a:off x="4215006" y="613062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Áztatás illatos szőlő 0-24h</a:t>
            </a:r>
            <a:endParaRPr lang="hu-HU" sz="1200" dirty="0"/>
          </a:p>
        </p:txBody>
      </p:sp>
      <p:sp>
        <p:nvSpPr>
          <p:cNvPr id="21" name="Szövegdoboz 20"/>
          <p:cNvSpPr txBox="1"/>
          <p:nvPr/>
        </p:nvSpPr>
        <p:spPr>
          <a:xfrm>
            <a:off x="4146113" y="2267687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Sajtoló</a:t>
            </a:r>
            <a:endParaRPr lang="hu-HU" dirty="0"/>
          </a:p>
        </p:txBody>
      </p:sp>
      <p:sp>
        <p:nvSpPr>
          <p:cNvPr id="22" name="Szövegdoboz 21"/>
          <p:cNvSpPr txBox="1"/>
          <p:nvPr/>
        </p:nvSpPr>
        <p:spPr>
          <a:xfrm>
            <a:off x="4146113" y="3631359"/>
            <a:ext cx="112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Áztatás-</a:t>
            </a:r>
          </a:p>
          <a:p>
            <a:pPr algn="ctr"/>
            <a:r>
              <a:rPr lang="hu-HU" sz="1200" dirty="0" smtClean="0"/>
              <a:t>erjesztés </a:t>
            </a:r>
          </a:p>
          <a:p>
            <a:pPr algn="ctr"/>
            <a:r>
              <a:rPr lang="hu-HU" sz="1200" dirty="0" smtClean="0"/>
              <a:t>vörös szőlő</a:t>
            </a:r>
            <a:endParaRPr lang="hu-HU" sz="1200" dirty="0"/>
          </a:p>
        </p:txBody>
      </p:sp>
      <p:sp>
        <p:nvSpPr>
          <p:cNvPr id="23" name="Szövegdoboz 22"/>
          <p:cNvSpPr txBox="1"/>
          <p:nvPr/>
        </p:nvSpPr>
        <p:spPr>
          <a:xfrm>
            <a:off x="4215006" y="5186674"/>
            <a:ext cx="9895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Rose áztatás 0-24h</a:t>
            </a:r>
            <a:endParaRPr lang="hu-HU" dirty="0"/>
          </a:p>
        </p:txBody>
      </p:sp>
      <p:sp>
        <p:nvSpPr>
          <p:cNvPr id="24" name="Szövegdoboz 23"/>
          <p:cNvSpPr txBox="1"/>
          <p:nvPr/>
        </p:nvSpPr>
        <p:spPr>
          <a:xfrm>
            <a:off x="5945687" y="3159782"/>
            <a:ext cx="105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Erjesztés</a:t>
            </a:r>
            <a:endParaRPr lang="hu-HU" dirty="0"/>
          </a:p>
        </p:txBody>
      </p:sp>
      <p:sp>
        <p:nvSpPr>
          <p:cNvPr id="25" name="Szövegdoboz 24"/>
          <p:cNvSpPr txBox="1"/>
          <p:nvPr/>
        </p:nvSpPr>
        <p:spPr>
          <a:xfrm>
            <a:off x="7649226" y="3030111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Fejtés</a:t>
            </a:r>
            <a:endParaRPr lang="hu-HU" dirty="0"/>
          </a:p>
        </p:txBody>
      </p:sp>
      <p:sp>
        <p:nvSpPr>
          <p:cNvPr id="26" name="Szövegdoboz 25"/>
          <p:cNvSpPr txBox="1"/>
          <p:nvPr/>
        </p:nvSpPr>
        <p:spPr>
          <a:xfrm>
            <a:off x="10154430" y="646331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Fehér bor</a:t>
            </a:r>
            <a:endParaRPr lang="hu-HU" dirty="0"/>
          </a:p>
        </p:txBody>
      </p:sp>
      <p:sp>
        <p:nvSpPr>
          <p:cNvPr id="27" name="Szövegdoboz 26"/>
          <p:cNvSpPr txBox="1"/>
          <p:nvPr/>
        </p:nvSpPr>
        <p:spPr>
          <a:xfrm>
            <a:off x="10085537" y="2066794"/>
            <a:ext cx="112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Illatos fehérbor</a:t>
            </a:r>
            <a:endParaRPr lang="hu-HU" dirty="0"/>
          </a:p>
        </p:txBody>
      </p:sp>
      <p:sp>
        <p:nvSpPr>
          <p:cNvPr id="28" name="Szövegdoboz 27"/>
          <p:cNvSpPr txBox="1"/>
          <p:nvPr/>
        </p:nvSpPr>
        <p:spPr>
          <a:xfrm>
            <a:off x="10085537" y="3631359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ROSE bor</a:t>
            </a:r>
            <a:endParaRPr lang="hu-HU" dirty="0"/>
          </a:p>
        </p:txBody>
      </p:sp>
      <p:sp>
        <p:nvSpPr>
          <p:cNvPr id="29" name="Szövegdoboz 28"/>
          <p:cNvSpPr txBox="1"/>
          <p:nvPr/>
        </p:nvSpPr>
        <p:spPr>
          <a:xfrm>
            <a:off x="10154430" y="5195924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Vörös bor</a:t>
            </a:r>
            <a:endParaRPr lang="hu-HU" dirty="0"/>
          </a:p>
        </p:txBody>
      </p:sp>
      <p:cxnSp>
        <p:nvCxnSpPr>
          <p:cNvPr id="31" name="Egyenes összekötő nyíllal 30"/>
          <p:cNvCxnSpPr>
            <a:stCxn id="4" idx="3"/>
          </p:cNvCxnSpPr>
          <p:nvPr/>
        </p:nvCxnSpPr>
        <p:spPr>
          <a:xfrm>
            <a:off x="1352812" y="936227"/>
            <a:ext cx="576196" cy="18821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Egyenes összekötő nyíllal 32"/>
          <p:cNvCxnSpPr/>
          <p:nvPr/>
        </p:nvCxnSpPr>
        <p:spPr>
          <a:xfrm flipV="1">
            <a:off x="1360638" y="3879792"/>
            <a:ext cx="568370" cy="21577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Egyenes összekötő nyíllal 34"/>
          <p:cNvCxnSpPr/>
          <p:nvPr/>
        </p:nvCxnSpPr>
        <p:spPr>
          <a:xfrm flipV="1">
            <a:off x="3331923" y="1415441"/>
            <a:ext cx="814190" cy="14029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Egyenes összekötő nyíllal 36"/>
          <p:cNvCxnSpPr>
            <a:stCxn id="6" idx="3"/>
            <a:endCxn id="8" idx="1"/>
          </p:cNvCxnSpPr>
          <p:nvPr/>
        </p:nvCxnSpPr>
        <p:spPr>
          <a:xfrm flipV="1">
            <a:off x="3331923" y="2442575"/>
            <a:ext cx="814191" cy="9018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Egyenes összekötő nyíllal 38"/>
          <p:cNvCxnSpPr>
            <a:endCxn id="9" idx="1"/>
          </p:cNvCxnSpPr>
          <p:nvPr/>
        </p:nvCxnSpPr>
        <p:spPr>
          <a:xfrm>
            <a:off x="3331923" y="3592882"/>
            <a:ext cx="814191" cy="405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Egyenes összekötő nyíllal 41"/>
          <p:cNvCxnSpPr>
            <a:endCxn id="10" idx="1"/>
          </p:cNvCxnSpPr>
          <p:nvPr/>
        </p:nvCxnSpPr>
        <p:spPr>
          <a:xfrm>
            <a:off x="3163866" y="3879792"/>
            <a:ext cx="982247" cy="1781973"/>
          </a:xfrm>
          <a:prstGeom prst="straightConnector1">
            <a:avLst/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Egyenes összekötő nyíllal 44"/>
          <p:cNvCxnSpPr>
            <a:stCxn id="7" idx="2"/>
            <a:endCxn id="8" idx="0"/>
          </p:cNvCxnSpPr>
          <p:nvPr/>
        </p:nvCxnSpPr>
        <p:spPr>
          <a:xfrm flipH="1">
            <a:off x="4709786" y="1415441"/>
            <a:ext cx="1" cy="651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9" name="Egyenes összekötő nyíllal 48"/>
          <p:cNvCxnSpPr>
            <a:stCxn id="22" idx="0"/>
            <a:endCxn id="8" idx="2"/>
          </p:cNvCxnSpPr>
          <p:nvPr/>
        </p:nvCxnSpPr>
        <p:spPr>
          <a:xfrm flipV="1">
            <a:off x="4709785" y="2818356"/>
            <a:ext cx="1" cy="8130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zögletes összekötő 50"/>
          <p:cNvCxnSpPr>
            <a:stCxn id="10" idx="3"/>
          </p:cNvCxnSpPr>
          <p:nvPr/>
        </p:nvCxnSpPr>
        <p:spPr>
          <a:xfrm flipH="1" flipV="1">
            <a:off x="4894546" y="2818356"/>
            <a:ext cx="378910" cy="2843409"/>
          </a:xfrm>
          <a:prstGeom prst="bentConnector4">
            <a:avLst>
              <a:gd name="adj1" fmla="val -60331"/>
              <a:gd name="adj2" fmla="val 75110"/>
            </a:avLst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zögletes összekötő 53"/>
          <p:cNvCxnSpPr>
            <a:stCxn id="8" idx="3"/>
          </p:cNvCxnSpPr>
          <p:nvPr/>
        </p:nvCxnSpPr>
        <p:spPr>
          <a:xfrm>
            <a:off x="5273457" y="2442575"/>
            <a:ext cx="603336" cy="5787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7" name="Szögletes összekötő 56"/>
          <p:cNvCxnSpPr>
            <a:endCxn id="12" idx="0"/>
          </p:cNvCxnSpPr>
          <p:nvPr/>
        </p:nvCxnSpPr>
        <p:spPr>
          <a:xfrm>
            <a:off x="5273456" y="2251460"/>
            <a:ext cx="2897690" cy="71720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Egyenes összekötő nyíllal 63"/>
          <p:cNvCxnSpPr/>
          <p:nvPr/>
        </p:nvCxnSpPr>
        <p:spPr>
          <a:xfrm>
            <a:off x="7004137" y="3159782"/>
            <a:ext cx="6033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Egyenes összekötő nyíllal 65"/>
          <p:cNvCxnSpPr>
            <a:endCxn id="13" idx="1"/>
          </p:cNvCxnSpPr>
          <p:nvPr/>
        </p:nvCxnSpPr>
        <p:spPr>
          <a:xfrm flipV="1">
            <a:off x="8734817" y="1022112"/>
            <a:ext cx="1350720" cy="20079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8" name="Egyenes összekötő nyíllal 67"/>
          <p:cNvCxnSpPr>
            <a:endCxn id="14" idx="1"/>
          </p:cNvCxnSpPr>
          <p:nvPr/>
        </p:nvCxnSpPr>
        <p:spPr>
          <a:xfrm flipV="1">
            <a:off x="8734817" y="2442575"/>
            <a:ext cx="1350721" cy="782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Egyenes összekötő nyíllal 69"/>
          <p:cNvCxnSpPr>
            <a:endCxn id="15" idx="1"/>
          </p:cNvCxnSpPr>
          <p:nvPr/>
        </p:nvCxnSpPr>
        <p:spPr>
          <a:xfrm>
            <a:off x="8734817" y="3529114"/>
            <a:ext cx="1350721" cy="468776"/>
          </a:xfrm>
          <a:prstGeom prst="straightConnector1">
            <a:avLst/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Egyenes összekötő nyíllal 71"/>
          <p:cNvCxnSpPr>
            <a:endCxn id="16" idx="1"/>
          </p:cNvCxnSpPr>
          <p:nvPr/>
        </p:nvCxnSpPr>
        <p:spPr>
          <a:xfrm>
            <a:off x="8734817" y="3727340"/>
            <a:ext cx="1350721" cy="18258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Téglalap 72"/>
          <p:cNvSpPr/>
          <p:nvPr/>
        </p:nvSpPr>
        <p:spPr>
          <a:xfrm>
            <a:off x="76203" y="2868314"/>
            <a:ext cx="1221287" cy="8797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4" name="Szövegdoboz 73"/>
          <p:cNvSpPr txBox="1"/>
          <p:nvPr/>
        </p:nvSpPr>
        <p:spPr>
          <a:xfrm>
            <a:off x="306887" y="2846527"/>
            <a:ext cx="805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Illatos  fehér szőlő</a:t>
            </a:r>
            <a:endParaRPr lang="hu-HU" dirty="0"/>
          </a:p>
        </p:txBody>
      </p:sp>
      <p:cxnSp>
        <p:nvCxnSpPr>
          <p:cNvPr id="78" name="Egyenes összekötő nyíllal 77"/>
          <p:cNvCxnSpPr>
            <a:stCxn id="73" idx="3"/>
            <a:endCxn id="6" idx="1"/>
          </p:cNvCxnSpPr>
          <p:nvPr/>
        </p:nvCxnSpPr>
        <p:spPr>
          <a:xfrm>
            <a:off x="1297490" y="3308193"/>
            <a:ext cx="631518" cy="362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1" name="Szövegdoboz 80"/>
          <p:cNvSpPr txBox="1"/>
          <p:nvPr/>
        </p:nvSpPr>
        <p:spPr>
          <a:xfrm>
            <a:off x="3808955" y="6391500"/>
            <a:ext cx="353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Powered </a:t>
            </a:r>
            <a:r>
              <a:rPr lang="hu-HU" dirty="0" err="1" smtClean="0"/>
              <a:t>by</a:t>
            </a:r>
            <a:r>
              <a:rPr lang="hu-HU" dirty="0" smtClean="0"/>
              <a:t> Bernát </a:t>
            </a:r>
            <a:r>
              <a:rPr lang="hu-HU" dirty="0" smtClean="0">
                <a:sym typeface="Wingdings" panose="05000000000000000000" pitchFamily="2" charset="2"/>
              </a:rPr>
              <a:t></a:t>
            </a:r>
            <a:endParaRPr lang="hu-HU" dirty="0"/>
          </a:p>
        </p:txBody>
      </p:sp>
      <p:sp>
        <p:nvSpPr>
          <p:cNvPr id="82" name="Szövegdoboz 81"/>
          <p:cNvSpPr txBox="1"/>
          <p:nvPr/>
        </p:nvSpPr>
        <p:spPr>
          <a:xfrm>
            <a:off x="3163865" y="11099"/>
            <a:ext cx="50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smtClean="0"/>
              <a:t>Szőlő Feldolgozás folyamatábrák egyben</a:t>
            </a:r>
            <a:endParaRPr lang="hu-HU" b="1" dirty="0"/>
          </a:p>
        </p:txBody>
      </p:sp>
      <p:cxnSp>
        <p:nvCxnSpPr>
          <p:cNvPr id="88" name="Szögletes összekötő 87"/>
          <p:cNvCxnSpPr/>
          <p:nvPr/>
        </p:nvCxnSpPr>
        <p:spPr>
          <a:xfrm>
            <a:off x="5273456" y="2610064"/>
            <a:ext cx="603337" cy="549718"/>
          </a:xfrm>
          <a:prstGeom prst="bentConnector3">
            <a:avLst>
              <a:gd name="adj1" fmla="val 29239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4" name="Egyenes összekötő nyíllal 93"/>
          <p:cNvCxnSpPr>
            <a:stCxn id="11" idx="3"/>
            <a:endCxn id="12" idx="1"/>
          </p:cNvCxnSpPr>
          <p:nvPr/>
        </p:nvCxnSpPr>
        <p:spPr>
          <a:xfrm>
            <a:off x="7004137" y="3344449"/>
            <a:ext cx="6033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6" name="Szögletes összekötő 95"/>
          <p:cNvCxnSpPr/>
          <p:nvPr/>
        </p:nvCxnSpPr>
        <p:spPr>
          <a:xfrm>
            <a:off x="5231704" y="2757965"/>
            <a:ext cx="729644" cy="599996"/>
          </a:xfrm>
          <a:prstGeom prst="bentConnector3">
            <a:avLst>
              <a:gd name="adj1" fmla="val 15665"/>
            </a:avLst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Egyenes összekötő nyíllal 100"/>
          <p:cNvCxnSpPr/>
          <p:nvPr/>
        </p:nvCxnSpPr>
        <p:spPr>
          <a:xfrm>
            <a:off x="7004137" y="3529114"/>
            <a:ext cx="603337" cy="0"/>
          </a:xfrm>
          <a:prstGeom prst="straightConnector1">
            <a:avLst/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33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339" y="8389"/>
            <a:ext cx="5119921" cy="6858000"/>
          </a:xfrm>
          <a:prstGeom prst="rect">
            <a:avLst/>
          </a:prstGeom>
        </p:spPr>
      </p:pic>
      <p:sp>
        <p:nvSpPr>
          <p:cNvPr id="4" name="Szövegdoboz 3"/>
          <p:cNvSpPr txBox="1"/>
          <p:nvPr/>
        </p:nvSpPr>
        <p:spPr>
          <a:xfrm>
            <a:off x="344112" y="2801922"/>
            <a:ext cx="4794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 smtClean="0"/>
              <a:t>Segítségnek itt egy másik ábra.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112281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289" y="0"/>
            <a:ext cx="5102711" cy="3457618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17437" y="354367"/>
            <a:ext cx="6444728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 smtClean="0"/>
              <a:t>Fehérbor készítése</a:t>
            </a:r>
            <a:endParaRPr lang="hu-HU" sz="6000" dirty="0"/>
          </a:p>
        </p:txBody>
      </p:sp>
      <p:sp>
        <p:nvSpPr>
          <p:cNvPr id="5" name="Szövegdoboz 4"/>
          <p:cNvSpPr txBox="1"/>
          <p:nvPr/>
        </p:nvSpPr>
        <p:spPr>
          <a:xfrm>
            <a:off x="355002" y="2807745"/>
            <a:ext cx="1111265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sz="2800" dirty="0"/>
              <a:t>A fehérbort a szőlő szüret utáni azonnali kipréselésével készítik. </a:t>
            </a:r>
            <a:br>
              <a:rPr lang="hu-HU" sz="2800" dirty="0"/>
            </a:br>
            <a:r>
              <a:rPr lang="hu-HU" sz="2800" dirty="0" smtClean="0"/>
              <a:t>Így </a:t>
            </a:r>
            <a:r>
              <a:rPr lang="hu-HU" sz="2800" dirty="0"/>
              <a:t>az erjedéskor – a szőlő szilárd részeitől elkülönítve – már csak a must van az erjesztőtartályban. </a:t>
            </a:r>
            <a:r>
              <a:rPr lang="hu-HU" sz="2800" dirty="0" smtClean="0"/>
              <a:t>A </a:t>
            </a:r>
            <a:r>
              <a:rPr lang="hu-HU" sz="2800" dirty="0"/>
              <a:t>mustot hűtik, ülepítik és alacsony hőmérsékleten erjesztik, így megőrzi a szőlő eredeti illat- és </a:t>
            </a:r>
            <a:r>
              <a:rPr lang="hu-HU" sz="2800" dirty="0" smtClean="0"/>
              <a:t>zamat anyagait</a:t>
            </a:r>
            <a:r>
              <a:rPr lang="hu-HU" sz="2800" dirty="0"/>
              <a:t>. A kierjedt bort fejtik, szűrik, tisztítják.</a:t>
            </a:r>
          </a:p>
        </p:txBody>
      </p:sp>
    </p:spTree>
    <p:extLst>
      <p:ext uri="{BB962C8B-B14F-4D97-AF65-F5344CB8AC3E}">
        <p14:creationId xmlns:p14="http://schemas.microsoft.com/office/powerpoint/2010/main" val="145404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12289" y="198587"/>
            <a:ext cx="10515600" cy="2017348"/>
          </a:xfrm>
        </p:spPr>
        <p:txBody>
          <a:bodyPr>
            <a:normAutofit fontScale="90000"/>
          </a:bodyPr>
          <a:lstStyle/>
          <a:p>
            <a:pPr algn="ctr"/>
            <a:r>
              <a:rPr lang="hu-HU" sz="5400" dirty="0" smtClean="0"/>
              <a:t>Hogyan készül a fehérbor?</a:t>
            </a:r>
            <a:br>
              <a:rPr lang="hu-HU" sz="5400" dirty="0" smtClean="0"/>
            </a:br>
            <a:r>
              <a:rPr lang="hu-HU" sz="5400" dirty="0"/>
              <a:t>Melyik folyamat után mi következik?</a:t>
            </a:r>
            <a:r>
              <a:rPr lang="hu-HU" sz="5400" dirty="0" smtClean="0"/>
              <a:t/>
            </a:r>
            <a:br>
              <a:rPr lang="hu-HU" sz="5400" dirty="0" smtClean="0"/>
            </a:br>
            <a:r>
              <a:rPr lang="hu-HU" sz="4000" b="1" dirty="0" smtClean="0"/>
              <a:t>Jelöld be az igaz választ!</a:t>
            </a:r>
            <a:endParaRPr lang="hu-HU" sz="4000" b="1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93638" y="2328768"/>
            <a:ext cx="11761694" cy="3060814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hu-HU" sz="6000" dirty="0" smtClean="0">
                <a:sym typeface="Wingdings" panose="05000000000000000000" pitchFamily="2" charset="2"/>
                <a:hlinkClick r:id="rId2" action="ppaction://hlinksldjump"/>
              </a:rPr>
              <a:t>A.</a:t>
            </a:r>
            <a:r>
              <a:rPr lang="hu-HU" sz="6000" dirty="0" smtClean="0">
                <a:sym typeface="Wingdings" panose="05000000000000000000" pitchFamily="2" charset="2"/>
              </a:rPr>
              <a:t> </a:t>
            </a:r>
            <a:r>
              <a:rPr lang="hu-HU" sz="6000" dirty="0" smtClean="0"/>
              <a:t>Zúzás, bogyózás – sajtolás – erjesztés – fejtés – palackozás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hu-HU" sz="6000" dirty="0" smtClean="0">
                <a:sym typeface="Wingdings" panose="05000000000000000000" pitchFamily="2" charset="2"/>
                <a:hlinkClick r:id="rId3" action="ppaction://hlinksldjump"/>
              </a:rPr>
              <a:t>B.</a:t>
            </a:r>
            <a:r>
              <a:rPr lang="hu-HU" sz="6000" dirty="0" smtClean="0">
                <a:sym typeface="Wingdings" panose="05000000000000000000" pitchFamily="2" charset="2"/>
              </a:rPr>
              <a:t> </a:t>
            </a:r>
            <a:r>
              <a:rPr lang="hu-HU" sz="6000" dirty="0" smtClean="0"/>
              <a:t>Bogyózás – zúzás– sajtolás – erjesztés – fejtés – </a:t>
            </a:r>
            <a:r>
              <a:rPr lang="hu-HU" sz="6000" dirty="0"/>
              <a:t>palackozás </a:t>
            </a:r>
            <a:endParaRPr lang="hu-HU" sz="6000" dirty="0" smtClean="0"/>
          </a:p>
          <a:p>
            <a:pPr marL="452438" indent="-452438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hu-HU" sz="6000" dirty="0" smtClean="0">
                <a:sym typeface="Wingdings" panose="05000000000000000000" pitchFamily="2" charset="2"/>
                <a:hlinkClick r:id="rId3" action="ppaction://hlinksldjump"/>
              </a:rPr>
              <a:t>C.</a:t>
            </a:r>
            <a:r>
              <a:rPr lang="hu-HU" sz="6000" dirty="0" smtClean="0">
                <a:sym typeface="Wingdings" panose="05000000000000000000" pitchFamily="2" charset="2"/>
              </a:rPr>
              <a:t> </a:t>
            </a:r>
            <a:r>
              <a:rPr lang="hu-HU" sz="6000" dirty="0" smtClean="0"/>
              <a:t>Zúzás</a:t>
            </a:r>
            <a:r>
              <a:rPr lang="hu-HU" sz="6000" dirty="0"/>
              <a:t>, bogyózás – </a:t>
            </a:r>
            <a:r>
              <a:rPr lang="hu-HU" sz="6000" dirty="0" smtClean="0"/>
              <a:t>sajtolás </a:t>
            </a:r>
            <a:r>
              <a:rPr lang="hu-HU" sz="6000" dirty="0"/>
              <a:t>– </a:t>
            </a:r>
            <a:r>
              <a:rPr lang="hu-HU" sz="6000" dirty="0" smtClean="0"/>
              <a:t>áztatás </a:t>
            </a:r>
            <a:r>
              <a:rPr lang="hu-HU" sz="6000" dirty="0"/>
              <a:t>– erjesztés – </a:t>
            </a:r>
            <a:r>
              <a:rPr lang="hu-HU" sz="6000" dirty="0" smtClean="0"/>
              <a:t>fejtés </a:t>
            </a:r>
            <a:r>
              <a:rPr lang="hu-HU" sz="6000" dirty="0"/>
              <a:t>– palackozás </a:t>
            </a:r>
          </a:p>
          <a:p>
            <a:pPr marL="742950" indent="-742950">
              <a:buFont typeface="+mj-lt"/>
              <a:buAutoNum type="alphaUcPeriod"/>
            </a:pPr>
            <a:endParaRPr lang="hu-HU" sz="3600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149" y="4474105"/>
            <a:ext cx="3598960" cy="269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1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8097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 smtClean="0"/>
              <a:t>Miből készítenek fehérbort?</a:t>
            </a:r>
            <a:endParaRPr lang="hu-HU" sz="6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779477" y="2706469"/>
            <a:ext cx="10515600" cy="2427593"/>
          </a:xfrm>
        </p:spPr>
        <p:txBody>
          <a:bodyPr/>
          <a:lstStyle/>
          <a:p>
            <a:pPr marL="0" indent="0">
              <a:buNone/>
            </a:pPr>
            <a:r>
              <a:rPr lang="hu-HU" sz="3600" dirty="0" smtClean="0">
                <a:hlinkClick r:id="rId2" action="ppaction://hlinksldjump"/>
              </a:rPr>
              <a:t>A.</a:t>
            </a:r>
            <a:r>
              <a:rPr lang="hu-HU" sz="3600" dirty="0" smtClean="0"/>
              <a:t> Csak fehérszőlőből</a:t>
            </a:r>
          </a:p>
          <a:p>
            <a:pPr marL="0" indent="0">
              <a:buNone/>
            </a:pPr>
            <a:r>
              <a:rPr lang="hu-HU" sz="3600" dirty="0" smtClean="0">
                <a:hlinkClick r:id="rId3" action="ppaction://hlinksldjump"/>
              </a:rPr>
              <a:t>B. </a:t>
            </a:r>
            <a:r>
              <a:rPr lang="hu-HU" sz="3600" dirty="0" smtClean="0"/>
              <a:t>Fehér és vörös szőlőből</a:t>
            </a:r>
          </a:p>
          <a:p>
            <a:pPr marL="0" indent="0">
              <a:buNone/>
            </a:pPr>
            <a:r>
              <a:rPr lang="hu-HU" sz="3600" dirty="0" smtClean="0">
                <a:hlinkClick r:id="rId2" action="ppaction://hlinksldjump"/>
              </a:rPr>
              <a:t>C. </a:t>
            </a:r>
            <a:r>
              <a:rPr lang="hu-HU" sz="3600" dirty="0" smtClean="0"/>
              <a:t>Vörös szőlőből</a:t>
            </a:r>
          </a:p>
          <a:p>
            <a:endParaRPr lang="hu-HU" dirty="0"/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878" y="2575470"/>
            <a:ext cx="5852160" cy="388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02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000" dirty="0"/>
              <a:t>Egyes illatos </a:t>
            </a:r>
            <a:r>
              <a:rPr lang="hu-HU" sz="6000" dirty="0" smtClean="0"/>
              <a:t>borfajták készítése</a:t>
            </a:r>
            <a:endParaRPr lang="hu-HU" sz="6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34701" y="2686237"/>
            <a:ext cx="10165977" cy="2800163"/>
          </a:xfrm>
        </p:spPr>
        <p:txBody>
          <a:bodyPr/>
          <a:lstStyle/>
          <a:p>
            <a:pPr marL="0" indent="0">
              <a:buNone/>
            </a:pPr>
            <a:r>
              <a:rPr lang="hu-HU" dirty="0" smtClean="0"/>
              <a:t>Ugyan azzal a technikával készítik mint a fehérbort, csak a </a:t>
            </a:r>
            <a:r>
              <a:rPr lang="hu-HU" dirty="0"/>
              <a:t>zúzott szőlőt pár órán át héjon áztatják, így abból zamatanyagok oldódnak a mustba.</a:t>
            </a:r>
          </a:p>
        </p:txBody>
      </p:sp>
    </p:spTree>
    <p:extLst>
      <p:ext uri="{BB962C8B-B14F-4D97-AF65-F5344CB8AC3E}">
        <p14:creationId xmlns:p14="http://schemas.microsoft.com/office/powerpoint/2010/main" val="67903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85232" cy="7142540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34296" y="155765"/>
            <a:ext cx="6110344" cy="1016216"/>
          </a:xfrm>
        </p:spPr>
        <p:txBody>
          <a:bodyPr/>
          <a:lstStyle/>
          <a:p>
            <a:pPr algn="ctr"/>
            <a:r>
              <a:rPr lang="hu-HU" sz="6000" dirty="0"/>
              <a:t>É</a:t>
            </a:r>
            <a:r>
              <a:rPr lang="hu-HU" sz="6000" dirty="0" smtClean="0"/>
              <a:t>rdekesebb szőlők</a:t>
            </a:r>
            <a:endParaRPr lang="hu-HU" sz="6000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0" y="1481200"/>
            <a:ext cx="3388659" cy="5520747"/>
          </a:xfrm>
        </p:spPr>
        <p:txBody>
          <a:bodyPr/>
          <a:lstStyle/>
          <a:p>
            <a:pPr marL="0" indent="0">
              <a:buNone/>
            </a:pPr>
            <a:r>
              <a:rPr lang="hu-HU" b="1" dirty="0"/>
              <a:t>Illatos szőlők, amiből illatos borokat készítenek</a:t>
            </a:r>
            <a:endParaRPr lang="hu-HU" b="1" dirty="0" smtClean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dirty="0" smtClean="0"/>
              <a:t>Muskotály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dirty="0" smtClean="0"/>
              <a:t>Cserszegi fűszeres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dirty="0" smtClean="0"/>
              <a:t>Tramini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dirty="0" smtClean="0"/>
              <a:t>Irsai Olivér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dirty="0" smtClean="0"/>
              <a:t>Zenit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dirty="0" smtClean="0"/>
              <a:t>Királyleányka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dirty="0" err="1" smtClean="0"/>
              <a:t>Medoc</a:t>
            </a:r>
            <a:r>
              <a:rPr lang="hu-HU" dirty="0" smtClean="0"/>
              <a:t> Noir</a:t>
            </a:r>
            <a:endParaRPr lang="hu-HU" dirty="0"/>
          </a:p>
        </p:txBody>
      </p:sp>
      <p:sp>
        <p:nvSpPr>
          <p:cNvPr id="6" name="Szövegdoboz 5"/>
          <p:cNvSpPr txBox="1"/>
          <p:nvPr/>
        </p:nvSpPr>
        <p:spPr>
          <a:xfrm>
            <a:off x="3589468" y="1428015"/>
            <a:ext cx="385482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 smtClean="0"/>
              <a:t>Mathiász János nemesítette szőlők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/>
              <a:t>Szőlőskertek </a:t>
            </a:r>
            <a:r>
              <a:rPr lang="hu-HU" sz="2800" dirty="0" smtClean="0"/>
              <a:t>királynője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/>
              <a:t>Mathiász Jánosné </a:t>
            </a:r>
            <a:r>
              <a:rPr lang="hu-HU" sz="2800" dirty="0" smtClean="0"/>
              <a:t>muskotály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/>
              <a:t>Kecskemét </a:t>
            </a:r>
            <a:r>
              <a:rPr lang="hu-HU" sz="2800" dirty="0" smtClean="0"/>
              <a:t>virága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/>
              <a:t>Cegléd </a:t>
            </a:r>
            <a:r>
              <a:rPr lang="hu-HU" sz="2800" dirty="0" smtClean="0"/>
              <a:t>szépe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 smtClean="0"/>
              <a:t>Tokajhegyalja gyöngye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/>
              <a:t>A bortermelők kincse</a:t>
            </a:r>
          </a:p>
          <a:p>
            <a:endParaRPr lang="hu-HU" dirty="0"/>
          </a:p>
        </p:txBody>
      </p:sp>
      <p:sp>
        <p:nvSpPr>
          <p:cNvPr id="7" name="Szövegdoboz 6"/>
          <p:cNvSpPr txBox="1"/>
          <p:nvPr/>
        </p:nvSpPr>
        <p:spPr>
          <a:xfrm>
            <a:off x="7551868" y="40547"/>
            <a:ext cx="4439323" cy="7155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800" b="1" dirty="0" smtClean="0"/>
              <a:t>Boglári </a:t>
            </a:r>
            <a:r>
              <a:rPr lang="hu-HU" sz="2800" b="1" dirty="0"/>
              <a:t>borvidék </a:t>
            </a:r>
            <a:r>
              <a:rPr lang="hu-HU" sz="2800" b="1" dirty="0" smtClean="0"/>
              <a:t>jelenleg </a:t>
            </a:r>
            <a:r>
              <a:rPr lang="hu-HU" sz="2800" b="1" dirty="0"/>
              <a:t>uralkodó </a:t>
            </a:r>
            <a:r>
              <a:rPr lang="hu-HU" sz="2800" b="1" dirty="0" smtClean="0"/>
              <a:t>szőlőfajtái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800" b="1" dirty="0" smtClean="0"/>
              <a:t>Fehér szőlők:</a:t>
            </a:r>
            <a:endParaRPr lang="hu-HU" sz="2800" b="1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 smtClean="0"/>
              <a:t>Királyleányka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 smtClean="0"/>
              <a:t>Irsai Olivér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 smtClean="0"/>
              <a:t>Chardonnay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 smtClean="0"/>
              <a:t>Olaszrizling(Rizlingszilváni)</a:t>
            </a:r>
            <a:endParaRPr lang="hu-HU" sz="28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800" b="1" dirty="0" smtClean="0"/>
              <a:t>Kékszőlő: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 smtClean="0"/>
              <a:t>Merlot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 smtClean="0"/>
              <a:t>Pinot Noir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 smtClean="0"/>
              <a:t>Kékfrankos,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 smtClean="0"/>
              <a:t>Zweigelt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4015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5418"/>
            <a:ext cx="3238118" cy="2167666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99565" y="979197"/>
            <a:ext cx="10515600" cy="1944595"/>
          </a:xfrm>
        </p:spPr>
        <p:txBody>
          <a:bodyPr>
            <a:noAutofit/>
          </a:bodyPr>
          <a:lstStyle/>
          <a:p>
            <a:pPr algn="ctr"/>
            <a:r>
              <a:rPr lang="hu-HU" sz="4900" dirty="0" smtClean="0"/>
              <a:t>Melyik szőlők nem adják az illatos fehérbor alapanyagát? </a:t>
            </a:r>
            <a:br>
              <a:rPr lang="hu-HU" sz="4900" dirty="0" smtClean="0"/>
            </a:br>
            <a:r>
              <a:rPr lang="hu-HU" sz="4900" dirty="0" smtClean="0"/>
              <a:t>Az egyik felsorolás hibás!</a:t>
            </a:r>
            <a:endParaRPr lang="hu-HU" sz="49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975373" y="4338366"/>
            <a:ext cx="8241254" cy="19180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300" dirty="0" smtClean="0">
                <a:hlinkClick r:id="rId3" action="ppaction://hlinksldjump"/>
              </a:rPr>
              <a:t>A.</a:t>
            </a:r>
            <a:r>
              <a:rPr lang="hu-HU" sz="3300" dirty="0" smtClean="0">
                <a:hlinkClick r:id="rId3" action="ppaction://hlinksldjump"/>
              </a:rPr>
              <a:t> </a:t>
            </a:r>
            <a:r>
              <a:rPr lang="hu-HU" sz="3300" dirty="0" smtClean="0"/>
              <a:t>Irsai Olivér, Tramini, Muskotály</a:t>
            </a:r>
          </a:p>
          <a:p>
            <a:pPr marL="0" indent="0">
              <a:buNone/>
            </a:pPr>
            <a:r>
              <a:rPr lang="hu-HU" sz="3300" dirty="0" smtClean="0">
                <a:hlinkClick r:id="rId3" action="ppaction://hlinksldjump"/>
              </a:rPr>
              <a:t>B.</a:t>
            </a:r>
            <a:r>
              <a:rPr lang="hu-HU" sz="3300" dirty="0" smtClean="0">
                <a:hlinkClick r:id="rId3" action="ppaction://hlinksldjump"/>
              </a:rPr>
              <a:t> </a:t>
            </a:r>
            <a:r>
              <a:rPr lang="hu-HU" sz="3300" dirty="0" smtClean="0"/>
              <a:t>Zenit, Tramini, Cserszegi fűszeres</a:t>
            </a:r>
          </a:p>
          <a:p>
            <a:pPr marL="0" indent="0">
              <a:buNone/>
            </a:pPr>
            <a:r>
              <a:rPr lang="hu-HU" sz="3300" dirty="0" smtClean="0">
                <a:hlinkClick r:id="rId4" action="ppaction://hlinksldjump"/>
              </a:rPr>
              <a:t>C.</a:t>
            </a:r>
            <a:r>
              <a:rPr lang="hu-HU" sz="3300" dirty="0" smtClean="0"/>
              <a:t> Zöldszilváni, Kékfrankos, Kövidinka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640" y="3383474"/>
            <a:ext cx="1550281" cy="219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127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125261" y="504079"/>
            <a:ext cx="1227551" cy="86429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203548" y="5553205"/>
            <a:ext cx="1127342" cy="8141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>
            <a:off x="1929008" y="2818356"/>
            <a:ext cx="1402915" cy="1052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/>
          <p:cNvSpPr/>
          <p:nvPr/>
        </p:nvSpPr>
        <p:spPr>
          <a:xfrm>
            <a:off x="4146115" y="66387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/>
          <p:cNvSpPr/>
          <p:nvPr/>
        </p:nvSpPr>
        <p:spPr>
          <a:xfrm>
            <a:off x="4146114" y="206679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/>
          <p:cNvSpPr/>
          <p:nvPr/>
        </p:nvSpPr>
        <p:spPr>
          <a:xfrm>
            <a:off x="4146114" y="362210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/>
          <p:cNvSpPr/>
          <p:nvPr/>
        </p:nvSpPr>
        <p:spPr>
          <a:xfrm>
            <a:off x="4146113" y="528598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/>
          <p:cNvSpPr/>
          <p:nvPr/>
        </p:nvSpPr>
        <p:spPr>
          <a:xfrm>
            <a:off x="5876794" y="29686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/>
          <p:cNvSpPr/>
          <p:nvPr/>
        </p:nvSpPr>
        <p:spPr>
          <a:xfrm>
            <a:off x="7607474" y="29686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/>
          <p:cNvSpPr/>
          <p:nvPr/>
        </p:nvSpPr>
        <p:spPr>
          <a:xfrm>
            <a:off x="10085537" y="646331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/>
          <p:cNvSpPr/>
          <p:nvPr/>
        </p:nvSpPr>
        <p:spPr>
          <a:xfrm>
            <a:off x="10085538" y="206679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/>
          <p:cNvSpPr/>
          <p:nvPr/>
        </p:nvSpPr>
        <p:spPr>
          <a:xfrm>
            <a:off x="10085538" y="362210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/>
          <p:cNvSpPr/>
          <p:nvPr/>
        </p:nvSpPr>
        <p:spPr>
          <a:xfrm>
            <a:off x="10085538" y="517742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Szövegdoboz 16"/>
          <p:cNvSpPr txBox="1"/>
          <p:nvPr/>
        </p:nvSpPr>
        <p:spPr>
          <a:xfrm>
            <a:off x="254173" y="646331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Fehér szőlő</a:t>
            </a:r>
            <a:endParaRPr lang="hu-HU" dirty="0"/>
          </a:p>
        </p:txBody>
      </p:sp>
      <p:sp>
        <p:nvSpPr>
          <p:cNvPr id="18" name="Szövegdoboz 17"/>
          <p:cNvSpPr txBox="1"/>
          <p:nvPr/>
        </p:nvSpPr>
        <p:spPr>
          <a:xfrm>
            <a:off x="267741" y="5636714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Vörös szőlő</a:t>
            </a:r>
            <a:endParaRPr lang="hu-HU" dirty="0"/>
          </a:p>
        </p:txBody>
      </p:sp>
      <p:sp>
        <p:nvSpPr>
          <p:cNvPr id="19" name="Szövegdoboz 18"/>
          <p:cNvSpPr txBox="1"/>
          <p:nvPr/>
        </p:nvSpPr>
        <p:spPr>
          <a:xfrm>
            <a:off x="2174310" y="3021283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Zúzó-bogyózó</a:t>
            </a:r>
            <a:endParaRPr lang="hu-HU" dirty="0"/>
          </a:p>
        </p:txBody>
      </p:sp>
      <p:sp>
        <p:nvSpPr>
          <p:cNvPr id="20" name="Szövegdoboz 19"/>
          <p:cNvSpPr txBox="1"/>
          <p:nvPr/>
        </p:nvSpPr>
        <p:spPr>
          <a:xfrm>
            <a:off x="4215006" y="613062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Áztatás illatos szőlő 0-24h</a:t>
            </a:r>
            <a:endParaRPr lang="hu-HU" sz="1200" dirty="0"/>
          </a:p>
        </p:txBody>
      </p:sp>
      <p:sp>
        <p:nvSpPr>
          <p:cNvPr id="21" name="Szövegdoboz 20"/>
          <p:cNvSpPr txBox="1"/>
          <p:nvPr/>
        </p:nvSpPr>
        <p:spPr>
          <a:xfrm>
            <a:off x="4146113" y="2267687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Sajtoló</a:t>
            </a:r>
            <a:endParaRPr lang="hu-HU" dirty="0"/>
          </a:p>
        </p:txBody>
      </p:sp>
      <p:sp>
        <p:nvSpPr>
          <p:cNvPr id="22" name="Szövegdoboz 21"/>
          <p:cNvSpPr txBox="1"/>
          <p:nvPr/>
        </p:nvSpPr>
        <p:spPr>
          <a:xfrm>
            <a:off x="4146113" y="3631359"/>
            <a:ext cx="112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Áztatás-</a:t>
            </a:r>
          </a:p>
          <a:p>
            <a:pPr algn="ctr"/>
            <a:r>
              <a:rPr lang="hu-HU" sz="1200" dirty="0" smtClean="0"/>
              <a:t>erjesztés </a:t>
            </a:r>
          </a:p>
          <a:p>
            <a:pPr algn="ctr"/>
            <a:r>
              <a:rPr lang="hu-HU" sz="1200" dirty="0" smtClean="0"/>
              <a:t>vörös szőlő</a:t>
            </a:r>
            <a:endParaRPr lang="hu-HU" sz="1200" dirty="0"/>
          </a:p>
        </p:txBody>
      </p:sp>
      <p:sp>
        <p:nvSpPr>
          <p:cNvPr id="23" name="Szövegdoboz 22"/>
          <p:cNvSpPr txBox="1"/>
          <p:nvPr/>
        </p:nvSpPr>
        <p:spPr>
          <a:xfrm>
            <a:off x="4215006" y="5186674"/>
            <a:ext cx="9895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Rose áztatás 0-24h</a:t>
            </a:r>
            <a:endParaRPr lang="hu-HU" dirty="0"/>
          </a:p>
        </p:txBody>
      </p:sp>
      <p:sp>
        <p:nvSpPr>
          <p:cNvPr id="24" name="Szövegdoboz 23"/>
          <p:cNvSpPr txBox="1"/>
          <p:nvPr/>
        </p:nvSpPr>
        <p:spPr>
          <a:xfrm>
            <a:off x="5945687" y="3159782"/>
            <a:ext cx="105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Erjesztés</a:t>
            </a:r>
            <a:endParaRPr lang="hu-HU" dirty="0"/>
          </a:p>
        </p:txBody>
      </p:sp>
      <p:sp>
        <p:nvSpPr>
          <p:cNvPr id="25" name="Szövegdoboz 24"/>
          <p:cNvSpPr txBox="1"/>
          <p:nvPr/>
        </p:nvSpPr>
        <p:spPr>
          <a:xfrm>
            <a:off x="7649226" y="3030111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Fejtés</a:t>
            </a:r>
            <a:endParaRPr lang="hu-HU" dirty="0"/>
          </a:p>
        </p:txBody>
      </p:sp>
      <p:sp>
        <p:nvSpPr>
          <p:cNvPr id="26" name="Szövegdoboz 25"/>
          <p:cNvSpPr txBox="1"/>
          <p:nvPr/>
        </p:nvSpPr>
        <p:spPr>
          <a:xfrm>
            <a:off x="10154430" y="646331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Fehér bor</a:t>
            </a:r>
            <a:endParaRPr lang="hu-HU" dirty="0"/>
          </a:p>
        </p:txBody>
      </p:sp>
      <p:sp>
        <p:nvSpPr>
          <p:cNvPr id="27" name="Szövegdoboz 26"/>
          <p:cNvSpPr txBox="1"/>
          <p:nvPr/>
        </p:nvSpPr>
        <p:spPr>
          <a:xfrm>
            <a:off x="10085537" y="2066794"/>
            <a:ext cx="112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Illatos fehérbor</a:t>
            </a:r>
            <a:endParaRPr lang="hu-HU" dirty="0"/>
          </a:p>
        </p:txBody>
      </p:sp>
      <p:sp>
        <p:nvSpPr>
          <p:cNvPr id="28" name="Szövegdoboz 27"/>
          <p:cNvSpPr txBox="1"/>
          <p:nvPr/>
        </p:nvSpPr>
        <p:spPr>
          <a:xfrm>
            <a:off x="10085537" y="3631359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ROSE bor</a:t>
            </a:r>
            <a:endParaRPr lang="hu-HU" dirty="0"/>
          </a:p>
        </p:txBody>
      </p:sp>
      <p:sp>
        <p:nvSpPr>
          <p:cNvPr id="29" name="Szövegdoboz 28"/>
          <p:cNvSpPr txBox="1"/>
          <p:nvPr/>
        </p:nvSpPr>
        <p:spPr>
          <a:xfrm>
            <a:off x="10154430" y="5195924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Vörös bor</a:t>
            </a:r>
            <a:endParaRPr lang="hu-HU" dirty="0"/>
          </a:p>
        </p:txBody>
      </p:sp>
      <p:cxnSp>
        <p:nvCxnSpPr>
          <p:cNvPr id="31" name="Egyenes összekötő nyíllal 30"/>
          <p:cNvCxnSpPr>
            <a:stCxn id="4" idx="3"/>
          </p:cNvCxnSpPr>
          <p:nvPr/>
        </p:nvCxnSpPr>
        <p:spPr>
          <a:xfrm>
            <a:off x="1352812" y="936227"/>
            <a:ext cx="576196" cy="18821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Egyenes összekötő nyíllal 32"/>
          <p:cNvCxnSpPr/>
          <p:nvPr/>
        </p:nvCxnSpPr>
        <p:spPr>
          <a:xfrm flipV="1">
            <a:off x="1360638" y="3879792"/>
            <a:ext cx="568370" cy="21577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Egyenes összekötő nyíllal 34"/>
          <p:cNvCxnSpPr/>
          <p:nvPr/>
        </p:nvCxnSpPr>
        <p:spPr>
          <a:xfrm flipV="1">
            <a:off x="3331923" y="1415441"/>
            <a:ext cx="814190" cy="14029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Egyenes összekötő nyíllal 36"/>
          <p:cNvCxnSpPr>
            <a:stCxn id="6" idx="3"/>
            <a:endCxn id="8" idx="1"/>
          </p:cNvCxnSpPr>
          <p:nvPr/>
        </p:nvCxnSpPr>
        <p:spPr>
          <a:xfrm flipV="1">
            <a:off x="3331923" y="2442575"/>
            <a:ext cx="814191" cy="9018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Egyenes összekötő nyíllal 38"/>
          <p:cNvCxnSpPr>
            <a:endCxn id="9" idx="1"/>
          </p:cNvCxnSpPr>
          <p:nvPr/>
        </p:nvCxnSpPr>
        <p:spPr>
          <a:xfrm>
            <a:off x="3331923" y="3592882"/>
            <a:ext cx="814191" cy="405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Egyenes összekötő nyíllal 41"/>
          <p:cNvCxnSpPr>
            <a:endCxn id="10" idx="1"/>
          </p:cNvCxnSpPr>
          <p:nvPr/>
        </p:nvCxnSpPr>
        <p:spPr>
          <a:xfrm>
            <a:off x="3163866" y="3879792"/>
            <a:ext cx="982247" cy="1781973"/>
          </a:xfrm>
          <a:prstGeom prst="straightConnector1">
            <a:avLst/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Egyenes összekötő nyíllal 44"/>
          <p:cNvCxnSpPr>
            <a:stCxn id="7" idx="2"/>
            <a:endCxn id="8" idx="0"/>
          </p:cNvCxnSpPr>
          <p:nvPr/>
        </p:nvCxnSpPr>
        <p:spPr>
          <a:xfrm flipH="1">
            <a:off x="4709786" y="1415441"/>
            <a:ext cx="1" cy="651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9" name="Egyenes összekötő nyíllal 48"/>
          <p:cNvCxnSpPr>
            <a:stCxn id="22" idx="0"/>
            <a:endCxn id="8" idx="2"/>
          </p:cNvCxnSpPr>
          <p:nvPr/>
        </p:nvCxnSpPr>
        <p:spPr>
          <a:xfrm flipV="1">
            <a:off x="4709785" y="2818356"/>
            <a:ext cx="1" cy="8130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zögletes összekötő 50"/>
          <p:cNvCxnSpPr>
            <a:stCxn id="10" idx="3"/>
          </p:cNvCxnSpPr>
          <p:nvPr/>
        </p:nvCxnSpPr>
        <p:spPr>
          <a:xfrm flipH="1" flipV="1">
            <a:off x="4894546" y="2818356"/>
            <a:ext cx="378910" cy="2843409"/>
          </a:xfrm>
          <a:prstGeom prst="bentConnector4">
            <a:avLst>
              <a:gd name="adj1" fmla="val -60331"/>
              <a:gd name="adj2" fmla="val 75110"/>
            </a:avLst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zögletes összekötő 53"/>
          <p:cNvCxnSpPr>
            <a:stCxn id="8" idx="3"/>
          </p:cNvCxnSpPr>
          <p:nvPr/>
        </p:nvCxnSpPr>
        <p:spPr>
          <a:xfrm>
            <a:off x="5273457" y="2442575"/>
            <a:ext cx="603336" cy="5787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7" name="Szögletes összekötő 56"/>
          <p:cNvCxnSpPr>
            <a:endCxn id="12" idx="0"/>
          </p:cNvCxnSpPr>
          <p:nvPr/>
        </p:nvCxnSpPr>
        <p:spPr>
          <a:xfrm>
            <a:off x="5273456" y="2251460"/>
            <a:ext cx="2897690" cy="71720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Egyenes összekötő nyíllal 63"/>
          <p:cNvCxnSpPr/>
          <p:nvPr/>
        </p:nvCxnSpPr>
        <p:spPr>
          <a:xfrm>
            <a:off x="7004137" y="3159782"/>
            <a:ext cx="6033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Egyenes összekötő nyíllal 65"/>
          <p:cNvCxnSpPr>
            <a:endCxn id="13" idx="1"/>
          </p:cNvCxnSpPr>
          <p:nvPr/>
        </p:nvCxnSpPr>
        <p:spPr>
          <a:xfrm flipV="1">
            <a:off x="8734817" y="1022112"/>
            <a:ext cx="1350720" cy="20079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8" name="Egyenes összekötő nyíllal 67"/>
          <p:cNvCxnSpPr>
            <a:endCxn id="14" idx="1"/>
          </p:cNvCxnSpPr>
          <p:nvPr/>
        </p:nvCxnSpPr>
        <p:spPr>
          <a:xfrm flipV="1">
            <a:off x="8734817" y="2442575"/>
            <a:ext cx="1350721" cy="782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Egyenes összekötő nyíllal 69"/>
          <p:cNvCxnSpPr>
            <a:endCxn id="15" idx="1"/>
          </p:cNvCxnSpPr>
          <p:nvPr/>
        </p:nvCxnSpPr>
        <p:spPr>
          <a:xfrm>
            <a:off x="8734817" y="3529114"/>
            <a:ext cx="1350721" cy="468776"/>
          </a:xfrm>
          <a:prstGeom prst="straightConnector1">
            <a:avLst/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Egyenes összekötő nyíllal 71"/>
          <p:cNvCxnSpPr>
            <a:endCxn id="16" idx="1"/>
          </p:cNvCxnSpPr>
          <p:nvPr/>
        </p:nvCxnSpPr>
        <p:spPr>
          <a:xfrm>
            <a:off x="8734817" y="3727340"/>
            <a:ext cx="1350721" cy="18258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Téglalap 72"/>
          <p:cNvSpPr/>
          <p:nvPr/>
        </p:nvSpPr>
        <p:spPr>
          <a:xfrm>
            <a:off x="76203" y="2868314"/>
            <a:ext cx="1221287" cy="8797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4" name="Szövegdoboz 73"/>
          <p:cNvSpPr txBox="1"/>
          <p:nvPr/>
        </p:nvSpPr>
        <p:spPr>
          <a:xfrm>
            <a:off x="306887" y="2846527"/>
            <a:ext cx="805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Illatos  fehér szőlő</a:t>
            </a:r>
            <a:endParaRPr lang="hu-HU" dirty="0"/>
          </a:p>
        </p:txBody>
      </p:sp>
      <p:cxnSp>
        <p:nvCxnSpPr>
          <p:cNvPr id="78" name="Egyenes összekötő nyíllal 77"/>
          <p:cNvCxnSpPr>
            <a:stCxn id="73" idx="3"/>
            <a:endCxn id="6" idx="1"/>
          </p:cNvCxnSpPr>
          <p:nvPr/>
        </p:nvCxnSpPr>
        <p:spPr>
          <a:xfrm>
            <a:off x="1297490" y="3308193"/>
            <a:ext cx="631518" cy="362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1" name="Szövegdoboz 80"/>
          <p:cNvSpPr txBox="1"/>
          <p:nvPr/>
        </p:nvSpPr>
        <p:spPr>
          <a:xfrm>
            <a:off x="3808955" y="6391500"/>
            <a:ext cx="353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Powered </a:t>
            </a:r>
            <a:r>
              <a:rPr lang="hu-HU" dirty="0" err="1" smtClean="0"/>
              <a:t>by</a:t>
            </a:r>
            <a:r>
              <a:rPr lang="hu-HU" dirty="0" smtClean="0"/>
              <a:t> Bernát </a:t>
            </a:r>
            <a:r>
              <a:rPr lang="hu-HU" dirty="0" smtClean="0">
                <a:sym typeface="Wingdings" panose="05000000000000000000" pitchFamily="2" charset="2"/>
              </a:rPr>
              <a:t></a:t>
            </a:r>
            <a:endParaRPr lang="hu-HU" dirty="0"/>
          </a:p>
        </p:txBody>
      </p:sp>
      <p:sp>
        <p:nvSpPr>
          <p:cNvPr id="82" name="Szövegdoboz 81"/>
          <p:cNvSpPr txBox="1"/>
          <p:nvPr/>
        </p:nvSpPr>
        <p:spPr>
          <a:xfrm>
            <a:off x="3163865" y="11099"/>
            <a:ext cx="50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smtClean="0"/>
              <a:t>Szőlő Feldolgozás folyamatábrák egyben</a:t>
            </a:r>
            <a:endParaRPr lang="hu-HU" b="1" dirty="0"/>
          </a:p>
        </p:txBody>
      </p:sp>
      <p:cxnSp>
        <p:nvCxnSpPr>
          <p:cNvPr id="88" name="Szögletes összekötő 87"/>
          <p:cNvCxnSpPr/>
          <p:nvPr/>
        </p:nvCxnSpPr>
        <p:spPr>
          <a:xfrm>
            <a:off x="5273456" y="2610064"/>
            <a:ext cx="603337" cy="549718"/>
          </a:xfrm>
          <a:prstGeom prst="bentConnector3">
            <a:avLst>
              <a:gd name="adj1" fmla="val 29239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4" name="Egyenes összekötő nyíllal 93"/>
          <p:cNvCxnSpPr>
            <a:stCxn id="11" idx="3"/>
            <a:endCxn id="12" idx="1"/>
          </p:cNvCxnSpPr>
          <p:nvPr/>
        </p:nvCxnSpPr>
        <p:spPr>
          <a:xfrm>
            <a:off x="7004137" y="3344449"/>
            <a:ext cx="6033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6" name="Szögletes összekötő 95"/>
          <p:cNvCxnSpPr/>
          <p:nvPr/>
        </p:nvCxnSpPr>
        <p:spPr>
          <a:xfrm>
            <a:off x="5231704" y="2757965"/>
            <a:ext cx="729644" cy="599996"/>
          </a:xfrm>
          <a:prstGeom prst="bentConnector3">
            <a:avLst>
              <a:gd name="adj1" fmla="val 15665"/>
            </a:avLst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Egyenes összekötő nyíllal 100"/>
          <p:cNvCxnSpPr/>
          <p:nvPr/>
        </p:nvCxnSpPr>
        <p:spPr>
          <a:xfrm>
            <a:off x="7004137" y="3529114"/>
            <a:ext cx="603337" cy="0"/>
          </a:xfrm>
          <a:prstGeom prst="straightConnector1">
            <a:avLst/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11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49854" y="387274"/>
            <a:ext cx="9907793" cy="2420471"/>
          </a:xfrm>
        </p:spPr>
        <p:txBody>
          <a:bodyPr>
            <a:noAutofit/>
          </a:bodyPr>
          <a:lstStyle/>
          <a:p>
            <a:pPr algn="ctr"/>
            <a:r>
              <a:rPr lang="hu-HU" sz="6000" dirty="0" smtClean="0"/>
              <a:t>Illatos borok készítésének lépései</a:t>
            </a:r>
            <a:br>
              <a:rPr lang="hu-HU" sz="6000" dirty="0" smtClean="0"/>
            </a:br>
            <a:r>
              <a:rPr lang="hu-HU" sz="6000" dirty="0" smtClean="0"/>
              <a:t>csak az egyik válasz a jó</a:t>
            </a:r>
            <a:endParaRPr lang="hu-HU" sz="6000" dirty="0"/>
          </a:p>
        </p:txBody>
      </p:sp>
      <p:sp>
        <p:nvSpPr>
          <p:cNvPr id="4" name="Téglalap 3"/>
          <p:cNvSpPr/>
          <p:nvPr/>
        </p:nvSpPr>
        <p:spPr>
          <a:xfrm>
            <a:off x="451821" y="3831458"/>
            <a:ext cx="10703858" cy="2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hu-HU" sz="2800" dirty="0" smtClean="0">
                <a:sym typeface="Wingdings" panose="05000000000000000000" pitchFamily="2" charset="2"/>
                <a:hlinkClick r:id="rId2" action="ppaction://hlinksldjump"/>
              </a:rPr>
              <a:t>A.  </a:t>
            </a:r>
            <a:r>
              <a:rPr lang="hu-HU" sz="2800" dirty="0" smtClean="0"/>
              <a:t>Zúzás</a:t>
            </a:r>
            <a:r>
              <a:rPr lang="hu-HU" sz="2800" dirty="0"/>
              <a:t>, bogyózás </a:t>
            </a:r>
            <a:r>
              <a:rPr lang="hu-HU" sz="2800" dirty="0" smtClean="0"/>
              <a:t>– áztatás </a:t>
            </a:r>
            <a:r>
              <a:rPr lang="hu-HU" sz="2800" dirty="0"/>
              <a:t>–</a:t>
            </a:r>
            <a:r>
              <a:rPr lang="hu-HU" sz="2800" dirty="0" smtClean="0"/>
              <a:t> sajtolás </a:t>
            </a:r>
            <a:r>
              <a:rPr lang="hu-HU" sz="2800" dirty="0"/>
              <a:t>– erjesztés – fejtés – palackozás 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hu-HU" sz="2800" dirty="0" smtClean="0">
                <a:sym typeface="Wingdings" panose="05000000000000000000" pitchFamily="2" charset="2"/>
                <a:hlinkClick r:id="rId3" action="ppaction://hlinksldjump"/>
              </a:rPr>
              <a:t>B.  </a:t>
            </a:r>
            <a:r>
              <a:rPr lang="hu-HU" sz="2800" dirty="0" smtClean="0"/>
              <a:t>Bogyózás </a:t>
            </a:r>
            <a:r>
              <a:rPr lang="hu-HU" sz="2800" dirty="0"/>
              <a:t>– zúzás– sajtolás – erjesztés – fejtés – palackozás </a:t>
            </a:r>
          </a:p>
          <a:p>
            <a:pPr marL="452438" indent="-452438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hu-HU" sz="2800" dirty="0" smtClean="0">
                <a:sym typeface="Wingdings" panose="05000000000000000000" pitchFamily="2" charset="2"/>
                <a:hlinkClick r:id="rId3" action="ppaction://hlinksldjump"/>
              </a:rPr>
              <a:t>C.  </a:t>
            </a:r>
            <a:r>
              <a:rPr lang="hu-HU" sz="2800" dirty="0"/>
              <a:t>Zúzás, bogyózás – sajtolás – áztatás – erjesztés – fejtés – palackozás </a:t>
            </a:r>
          </a:p>
        </p:txBody>
      </p:sp>
    </p:spTree>
    <p:extLst>
      <p:ext uri="{BB962C8B-B14F-4D97-AF65-F5344CB8AC3E}">
        <p14:creationId xmlns:p14="http://schemas.microsoft.com/office/powerpoint/2010/main" val="96204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5" y="223542"/>
            <a:ext cx="5150473" cy="6809246"/>
          </a:xfrm>
          <a:prstGeom prst="rect">
            <a:avLst/>
          </a:prstGeom>
        </p:spPr>
      </p:pic>
      <p:sp>
        <p:nvSpPr>
          <p:cNvPr id="7" name="Cím 6"/>
          <p:cNvSpPr>
            <a:spLocks noGrp="1"/>
          </p:cNvSpPr>
          <p:nvPr>
            <p:ph type="title"/>
          </p:nvPr>
        </p:nvSpPr>
        <p:spPr>
          <a:xfrm>
            <a:off x="6443830" y="1323191"/>
            <a:ext cx="5335793" cy="3291840"/>
          </a:xfrm>
        </p:spPr>
        <p:txBody>
          <a:bodyPr>
            <a:normAutofit fontScale="90000"/>
          </a:bodyPr>
          <a:lstStyle/>
          <a:p>
            <a:pPr algn="ctr"/>
            <a:r>
              <a:rPr lang="hu-HU" sz="6700" dirty="0"/>
              <a:t>Rozé bor, </a:t>
            </a:r>
            <a:r>
              <a:rPr lang="hu-HU" sz="6700" dirty="0" smtClean="0"/>
              <a:t/>
            </a:r>
            <a:br>
              <a:rPr lang="hu-HU" sz="6700" dirty="0" smtClean="0"/>
            </a:br>
            <a:r>
              <a:rPr lang="hu-HU" sz="6700" dirty="0" smtClean="0"/>
              <a:t>termőföldtől </a:t>
            </a:r>
            <a:br>
              <a:rPr lang="hu-HU" sz="6700" dirty="0" smtClean="0"/>
            </a:br>
            <a:r>
              <a:rPr lang="hu-HU" sz="6700" dirty="0" smtClean="0"/>
              <a:t>az </a:t>
            </a:r>
            <a:r>
              <a:rPr lang="hu-HU" sz="6700" dirty="0"/>
              <a:t>asztalig</a:t>
            </a:r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2169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125261" y="504079"/>
            <a:ext cx="1227551" cy="86429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203548" y="5553205"/>
            <a:ext cx="1127342" cy="8141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>
            <a:off x="1929008" y="2818356"/>
            <a:ext cx="1402915" cy="1052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/>
          <p:cNvSpPr/>
          <p:nvPr/>
        </p:nvSpPr>
        <p:spPr>
          <a:xfrm>
            <a:off x="4146115" y="66387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/>
          <p:cNvSpPr/>
          <p:nvPr/>
        </p:nvSpPr>
        <p:spPr>
          <a:xfrm>
            <a:off x="4146114" y="206679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/>
          <p:cNvSpPr/>
          <p:nvPr/>
        </p:nvSpPr>
        <p:spPr>
          <a:xfrm>
            <a:off x="4146114" y="362210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/>
          <p:cNvSpPr/>
          <p:nvPr/>
        </p:nvSpPr>
        <p:spPr>
          <a:xfrm>
            <a:off x="4146113" y="528598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/>
          <p:cNvSpPr/>
          <p:nvPr/>
        </p:nvSpPr>
        <p:spPr>
          <a:xfrm>
            <a:off x="5876794" y="29686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/>
          <p:cNvSpPr/>
          <p:nvPr/>
        </p:nvSpPr>
        <p:spPr>
          <a:xfrm>
            <a:off x="7607474" y="29686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/>
          <p:cNvSpPr/>
          <p:nvPr/>
        </p:nvSpPr>
        <p:spPr>
          <a:xfrm>
            <a:off x="10085537" y="646331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/>
          <p:cNvSpPr/>
          <p:nvPr/>
        </p:nvSpPr>
        <p:spPr>
          <a:xfrm>
            <a:off x="10085538" y="206679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/>
          <p:cNvSpPr/>
          <p:nvPr/>
        </p:nvSpPr>
        <p:spPr>
          <a:xfrm>
            <a:off x="10085538" y="362210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/>
          <p:cNvSpPr/>
          <p:nvPr/>
        </p:nvSpPr>
        <p:spPr>
          <a:xfrm>
            <a:off x="10085538" y="517742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Szövegdoboz 16"/>
          <p:cNvSpPr txBox="1"/>
          <p:nvPr/>
        </p:nvSpPr>
        <p:spPr>
          <a:xfrm>
            <a:off x="254173" y="646331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Fehér szőlő</a:t>
            </a:r>
            <a:endParaRPr lang="hu-HU" dirty="0"/>
          </a:p>
        </p:txBody>
      </p:sp>
      <p:sp>
        <p:nvSpPr>
          <p:cNvPr id="18" name="Szövegdoboz 17"/>
          <p:cNvSpPr txBox="1"/>
          <p:nvPr/>
        </p:nvSpPr>
        <p:spPr>
          <a:xfrm>
            <a:off x="267741" y="5636714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Vörös szőlő</a:t>
            </a:r>
            <a:endParaRPr lang="hu-HU" dirty="0"/>
          </a:p>
        </p:txBody>
      </p:sp>
      <p:sp>
        <p:nvSpPr>
          <p:cNvPr id="19" name="Szövegdoboz 18"/>
          <p:cNvSpPr txBox="1"/>
          <p:nvPr/>
        </p:nvSpPr>
        <p:spPr>
          <a:xfrm>
            <a:off x="2174310" y="3021283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Zúzó-bogyózó</a:t>
            </a:r>
            <a:endParaRPr lang="hu-HU" dirty="0"/>
          </a:p>
        </p:txBody>
      </p:sp>
      <p:sp>
        <p:nvSpPr>
          <p:cNvPr id="20" name="Szövegdoboz 19"/>
          <p:cNvSpPr txBox="1"/>
          <p:nvPr/>
        </p:nvSpPr>
        <p:spPr>
          <a:xfrm>
            <a:off x="4215006" y="613062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Áztatás illatos szőlő 0-24h</a:t>
            </a:r>
            <a:endParaRPr lang="hu-HU" sz="1200" dirty="0"/>
          </a:p>
        </p:txBody>
      </p:sp>
      <p:sp>
        <p:nvSpPr>
          <p:cNvPr id="21" name="Szövegdoboz 20"/>
          <p:cNvSpPr txBox="1"/>
          <p:nvPr/>
        </p:nvSpPr>
        <p:spPr>
          <a:xfrm>
            <a:off x="4146113" y="2267687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Sajtoló</a:t>
            </a:r>
            <a:endParaRPr lang="hu-HU" dirty="0"/>
          </a:p>
        </p:txBody>
      </p:sp>
      <p:sp>
        <p:nvSpPr>
          <p:cNvPr id="22" name="Szövegdoboz 21"/>
          <p:cNvSpPr txBox="1"/>
          <p:nvPr/>
        </p:nvSpPr>
        <p:spPr>
          <a:xfrm>
            <a:off x="4146113" y="3631359"/>
            <a:ext cx="112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Áztatás-</a:t>
            </a:r>
          </a:p>
          <a:p>
            <a:pPr algn="ctr"/>
            <a:r>
              <a:rPr lang="hu-HU" sz="1200" dirty="0" smtClean="0"/>
              <a:t>erjesztés </a:t>
            </a:r>
          </a:p>
          <a:p>
            <a:pPr algn="ctr"/>
            <a:r>
              <a:rPr lang="hu-HU" sz="1200" dirty="0" smtClean="0"/>
              <a:t>vörös szőlő</a:t>
            </a:r>
            <a:endParaRPr lang="hu-HU" sz="1200" dirty="0"/>
          </a:p>
        </p:txBody>
      </p:sp>
      <p:sp>
        <p:nvSpPr>
          <p:cNvPr id="23" name="Szövegdoboz 22"/>
          <p:cNvSpPr txBox="1"/>
          <p:nvPr/>
        </p:nvSpPr>
        <p:spPr>
          <a:xfrm>
            <a:off x="4215006" y="5186674"/>
            <a:ext cx="9895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Rose áztatás 0-24h</a:t>
            </a:r>
            <a:endParaRPr lang="hu-HU" dirty="0"/>
          </a:p>
        </p:txBody>
      </p:sp>
      <p:sp>
        <p:nvSpPr>
          <p:cNvPr id="24" name="Szövegdoboz 23"/>
          <p:cNvSpPr txBox="1"/>
          <p:nvPr/>
        </p:nvSpPr>
        <p:spPr>
          <a:xfrm>
            <a:off x="5945687" y="3159782"/>
            <a:ext cx="105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Erjesztés</a:t>
            </a:r>
            <a:endParaRPr lang="hu-HU" dirty="0"/>
          </a:p>
        </p:txBody>
      </p:sp>
      <p:sp>
        <p:nvSpPr>
          <p:cNvPr id="25" name="Szövegdoboz 24"/>
          <p:cNvSpPr txBox="1"/>
          <p:nvPr/>
        </p:nvSpPr>
        <p:spPr>
          <a:xfrm>
            <a:off x="7649226" y="3030111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Fejtés</a:t>
            </a:r>
            <a:endParaRPr lang="hu-HU" dirty="0"/>
          </a:p>
        </p:txBody>
      </p:sp>
      <p:sp>
        <p:nvSpPr>
          <p:cNvPr id="26" name="Szövegdoboz 25"/>
          <p:cNvSpPr txBox="1"/>
          <p:nvPr/>
        </p:nvSpPr>
        <p:spPr>
          <a:xfrm>
            <a:off x="10154430" y="646331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Fehér bor</a:t>
            </a:r>
            <a:endParaRPr lang="hu-HU" dirty="0"/>
          </a:p>
        </p:txBody>
      </p:sp>
      <p:sp>
        <p:nvSpPr>
          <p:cNvPr id="27" name="Szövegdoboz 26"/>
          <p:cNvSpPr txBox="1"/>
          <p:nvPr/>
        </p:nvSpPr>
        <p:spPr>
          <a:xfrm>
            <a:off x="10085537" y="2066794"/>
            <a:ext cx="112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Illatos fehérbor</a:t>
            </a:r>
            <a:endParaRPr lang="hu-HU" dirty="0"/>
          </a:p>
        </p:txBody>
      </p:sp>
      <p:sp>
        <p:nvSpPr>
          <p:cNvPr id="28" name="Szövegdoboz 27"/>
          <p:cNvSpPr txBox="1"/>
          <p:nvPr/>
        </p:nvSpPr>
        <p:spPr>
          <a:xfrm>
            <a:off x="10085537" y="3631359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ROSE bor</a:t>
            </a:r>
            <a:endParaRPr lang="hu-HU" dirty="0"/>
          </a:p>
        </p:txBody>
      </p:sp>
      <p:sp>
        <p:nvSpPr>
          <p:cNvPr id="29" name="Szövegdoboz 28"/>
          <p:cNvSpPr txBox="1"/>
          <p:nvPr/>
        </p:nvSpPr>
        <p:spPr>
          <a:xfrm>
            <a:off x="10154430" y="5195924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Vörös bor</a:t>
            </a:r>
            <a:endParaRPr lang="hu-HU" dirty="0"/>
          </a:p>
        </p:txBody>
      </p:sp>
      <p:cxnSp>
        <p:nvCxnSpPr>
          <p:cNvPr id="31" name="Egyenes összekötő nyíllal 30"/>
          <p:cNvCxnSpPr>
            <a:stCxn id="4" idx="3"/>
          </p:cNvCxnSpPr>
          <p:nvPr/>
        </p:nvCxnSpPr>
        <p:spPr>
          <a:xfrm>
            <a:off x="1352812" y="936227"/>
            <a:ext cx="576196" cy="18821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Egyenes összekötő nyíllal 32"/>
          <p:cNvCxnSpPr/>
          <p:nvPr/>
        </p:nvCxnSpPr>
        <p:spPr>
          <a:xfrm flipV="1">
            <a:off x="1360638" y="3879792"/>
            <a:ext cx="568370" cy="21577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Egyenes összekötő nyíllal 34"/>
          <p:cNvCxnSpPr/>
          <p:nvPr/>
        </p:nvCxnSpPr>
        <p:spPr>
          <a:xfrm flipV="1">
            <a:off x="3331923" y="1415441"/>
            <a:ext cx="814190" cy="14029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Egyenes összekötő nyíllal 36"/>
          <p:cNvCxnSpPr>
            <a:stCxn id="6" idx="3"/>
            <a:endCxn id="8" idx="1"/>
          </p:cNvCxnSpPr>
          <p:nvPr/>
        </p:nvCxnSpPr>
        <p:spPr>
          <a:xfrm flipV="1">
            <a:off x="3331923" y="2442575"/>
            <a:ext cx="814191" cy="9018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Egyenes összekötő nyíllal 38"/>
          <p:cNvCxnSpPr>
            <a:endCxn id="9" idx="1"/>
          </p:cNvCxnSpPr>
          <p:nvPr/>
        </p:nvCxnSpPr>
        <p:spPr>
          <a:xfrm>
            <a:off x="3331923" y="3592882"/>
            <a:ext cx="814191" cy="405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Egyenes összekötő nyíllal 41"/>
          <p:cNvCxnSpPr>
            <a:endCxn id="10" idx="1"/>
          </p:cNvCxnSpPr>
          <p:nvPr/>
        </p:nvCxnSpPr>
        <p:spPr>
          <a:xfrm>
            <a:off x="3163866" y="3879792"/>
            <a:ext cx="982247" cy="1781973"/>
          </a:xfrm>
          <a:prstGeom prst="straightConnector1">
            <a:avLst/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Egyenes összekötő nyíllal 44"/>
          <p:cNvCxnSpPr>
            <a:stCxn id="7" idx="2"/>
            <a:endCxn id="8" idx="0"/>
          </p:cNvCxnSpPr>
          <p:nvPr/>
        </p:nvCxnSpPr>
        <p:spPr>
          <a:xfrm flipH="1">
            <a:off x="4709786" y="1415441"/>
            <a:ext cx="1" cy="651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9" name="Egyenes összekötő nyíllal 48"/>
          <p:cNvCxnSpPr>
            <a:stCxn id="22" idx="0"/>
            <a:endCxn id="8" idx="2"/>
          </p:cNvCxnSpPr>
          <p:nvPr/>
        </p:nvCxnSpPr>
        <p:spPr>
          <a:xfrm flipV="1">
            <a:off x="4709785" y="2818356"/>
            <a:ext cx="1" cy="8130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zögletes összekötő 50"/>
          <p:cNvCxnSpPr>
            <a:stCxn id="10" idx="3"/>
          </p:cNvCxnSpPr>
          <p:nvPr/>
        </p:nvCxnSpPr>
        <p:spPr>
          <a:xfrm flipH="1" flipV="1">
            <a:off x="4894546" y="2818356"/>
            <a:ext cx="378910" cy="2843409"/>
          </a:xfrm>
          <a:prstGeom prst="bentConnector4">
            <a:avLst>
              <a:gd name="adj1" fmla="val -60331"/>
              <a:gd name="adj2" fmla="val 75110"/>
            </a:avLst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zögletes összekötő 53"/>
          <p:cNvCxnSpPr>
            <a:stCxn id="8" idx="3"/>
          </p:cNvCxnSpPr>
          <p:nvPr/>
        </p:nvCxnSpPr>
        <p:spPr>
          <a:xfrm>
            <a:off x="5273457" y="2442575"/>
            <a:ext cx="603336" cy="5787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7" name="Szögletes összekötő 56"/>
          <p:cNvCxnSpPr>
            <a:endCxn id="12" idx="0"/>
          </p:cNvCxnSpPr>
          <p:nvPr/>
        </p:nvCxnSpPr>
        <p:spPr>
          <a:xfrm>
            <a:off x="5273456" y="2251460"/>
            <a:ext cx="2897690" cy="71720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Egyenes összekötő nyíllal 63"/>
          <p:cNvCxnSpPr/>
          <p:nvPr/>
        </p:nvCxnSpPr>
        <p:spPr>
          <a:xfrm>
            <a:off x="7004137" y="3159782"/>
            <a:ext cx="6033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Egyenes összekötő nyíllal 65"/>
          <p:cNvCxnSpPr>
            <a:endCxn id="13" idx="1"/>
          </p:cNvCxnSpPr>
          <p:nvPr/>
        </p:nvCxnSpPr>
        <p:spPr>
          <a:xfrm flipV="1">
            <a:off x="8734817" y="1022112"/>
            <a:ext cx="1350720" cy="20079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8" name="Egyenes összekötő nyíllal 67"/>
          <p:cNvCxnSpPr>
            <a:endCxn id="14" idx="1"/>
          </p:cNvCxnSpPr>
          <p:nvPr/>
        </p:nvCxnSpPr>
        <p:spPr>
          <a:xfrm flipV="1">
            <a:off x="8734817" y="2442575"/>
            <a:ext cx="1350721" cy="782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Egyenes összekötő nyíllal 69"/>
          <p:cNvCxnSpPr>
            <a:endCxn id="15" idx="1"/>
          </p:cNvCxnSpPr>
          <p:nvPr/>
        </p:nvCxnSpPr>
        <p:spPr>
          <a:xfrm>
            <a:off x="8734817" y="3529114"/>
            <a:ext cx="1350721" cy="468776"/>
          </a:xfrm>
          <a:prstGeom prst="straightConnector1">
            <a:avLst/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Egyenes összekötő nyíllal 71"/>
          <p:cNvCxnSpPr>
            <a:endCxn id="16" idx="1"/>
          </p:cNvCxnSpPr>
          <p:nvPr/>
        </p:nvCxnSpPr>
        <p:spPr>
          <a:xfrm>
            <a:off x="8734817" y="3727340"/>
            <a:ext cx="1350721" cy="18258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Téglalap 72"/>
          <p:cNvSpPr/>
          <p:nvPr/>
        </p:nvSpPr>
        <p:spPr>
          <a:xfrm>
            <a:off x="76203" y="2868314"/>
            <a:ext cx="1221287" cy="8797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4" name="Szövegdoboz 73"/>
          <p:cNvSpPr txBox="1"/>
          <p:nvPr/>
        </p:nvSpPr>
        <p:spPr>
          <a:xfrm>
            <a:off x="306887" y="2846527"/>
            <a:ext cx="805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Illatos  fehér szőlő</a:t>
            </a:r>
            <a:endParaRPr lang="hu-HU" dirty="0"/>
          </a:p>
        </p:txBody>
      </p:sp>
      <p:cxnSp>
        <p:nvCxnSpPr>
          <p:cNvPr id="78" name="Egyenes összekötő nyíllal 77"/>
          <p:cNvCxnSpPr>
            <a:stCxn id="73" idx="3"/>
            <a:endCxn id="6" idx="1"/>
          </p:cNvCxnSpPr>
          <p:nvPr/>
        </p:nvCxnSpPr>
        <p:spPr>
          <a:xfrm>
            <a:off x="1297490" y="3308193"/>
            <a:ext cx="631518" cy="362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1" name="Szövegdoboz 80"/>
          <p:cNvSpPr txBox="1"/>
          <p:nvPr/>
        </p:nvSpPr>
        <p:spPr>
          <a:xfrm>
            <a:off x="3808955" y="6391500"/>
            <a:ext cx="353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Powered </a:t>
            </a:r>
            <a:r>
              <a:rPr lang="hu-HU" dirty="0" err="1" smtClean="0"/>
              <a:t>by</a:t>
            </a:r>
            <a:r>
              <a:rPr lang="hu-HU" dirty="0" smtClean="0"/>
              <a:t> Bernát </a:t>
            </a:r>
            <a:r>
              <a:rPr lang="hu-HU" dirty="0" smtClean="0">
                <a:sym typeface="Wingdings" panose="05000000000000000000" pitchFamily="2" charset="2"/>
              </a:rPr>
              <a:t></a:t>
            </a:r>
            <a:endParaRPr lang="hu-HU" dirty="0"/>
          </a:p>
        </p:txBody>
      </p:sp>
      <p:sp>
        <p:nvSpPr>
          <p:cNvPr id="82" name="Szövegdoboz 81"/>
          <p:cNvSpPr txBox="1"/>
          <p:nvPr/>
        </p:nvSpPr>
        <p:spPr>
          <a:xfrm>
            <a:off x="3163865" y="11099"/>
            <a:ext cx="50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smtClean="0"/>
              <a:t>Szőlő Feldolgozás folyamatábrák egyben</a:t>
            </a:r>
            <a:endParaRPr lang="hu-HU" b="1" dirty="0"/>
          </a:p>
        </p:txBody>
      </p:sp>
      <p:cxnSp>
        <p:nvCxnSpPr>
          <p:cNvPr id="88" name="Szögletes összekötő 87"/>
          <p:cNvCxnSpPr/>
          <p:nvPr/>
        </p:nvCxnSpPr>
        <p:spPr>
          <a:xfrm>
            <a:off x="5273456" y="2610064"/>
            <a:ext cx="603337" cy="549718"/>
          </a:xfrm>
          <a:prstGeom prst="bentConnector3">
            <a:avLst>
              <a:gd name="adj1" fmla="val 29239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4" name="Egyenes összekötő nyíllal 93"/>
          <p:cNvCxnSpPr>
            <a:stCxn id="11" idx="3"/>
            <a:endCxn id="12" idx="1"/>
          </p:cNvCxnSpPr>
          <p:nvPr/>
        </p:nvCxnSpPr>
        <p:spPr>
          <a:xfrm>
            <a:off x="7004137" y="3344449"/>
            <a:ext cx="6033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6" name="Szögletes összekötő 95"/>
          <p:cNvCxnSpPr/>
          <p:nvPr/>
        </p:nvCxnSpPr>
        <p:spPr>
          <a:xfrm>
            <a:off x="5231704" y="2757965"/>
            <a:ext cx="729644" cy="599996"/>
          </a:xfrm>
          <a:prstGeom prst="bentConnector3">
            <a:avLst>
              <a:gd name="adj1" fmla="val 15665"/>
            </a:avLst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Egyenes összekötő nyíllal 100"/>
          <p:cNvCxnSpPr/>
          <p:nvPr/>
        </p:nvCxnSpPr>
        <p:spPr>
          <a:xfrm>
            <a:off x="7004137" y="3529114"/>
            <a:ext cx="603337" cy="0"/>
          </a:xfrm>
          <a:prstGeom prst="straightConnector1">
            <a:avLst/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72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791" y="1427675"/>
            <a:ext cx="10515600" cy="1325563"/>
          </a:xfrm>
        </p:spPr>
        <p:txBody>
          <a:bodyPr>
            <a:normAutofit/>
          </a:bodyPr>
          <a:lstStyle/>
          <a:p>
            <a:r>
              <a:rPr lang="hu-HU" sz="6000" dirty="0" smtClean="0"/>
              <a:t>A Rozé készítése</a:t>
            </a:r>
            <a:endParaRPr lang="hu-HU" sz="6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1363" y="4364429"/>
            <a:ext cx="10984455" cy="249357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hu-HU" sz="4000" dirty="0" smtClean="0"/>
              <a:t>A </a:t>
            </a:r>
            <a:r>
              <a:rPr lang="hu-HU" sz="4000" dirty="0" err="1"/>
              <a:t>rosét</a:t>
            </a:r>
            <a:r>
              <a:rPr lang="hu-HU" sz="4000" dirty="0"/>
              <a:t> kékszőlőből készítik, a fehérbornak megfelelő technológiával. </a:t>
            </a:r>
            <a:endParaRPr lang="hu-HU" sz="4000" dirty="0" smtClean="0"/>
          </a:p>
          <a:p>
            <a:pPr marL="0" indent="0">
              <a:buNone/>
            </a:pPr>
            <a:r>
              <a:rPr lang="hu-HU" sz="4000" dirty="0" smtClean="0"/>
              <a:t>A </a:t>
            </a:r>
            <a:r>
              <a:rPr lang="hu-HU" sz="4000" dirty="0"/>
              <a:t>leszüretelt kékszőlőt rövid ideig héjon áztatják. Ennek az időnek a hosszától függ, hogy milyen intenzív lesz a bor színe. </a:t>
            </a:r>
            <a:endParaRPr lang="hu-HU" sz="4000" dirty="0" smtClean="0"/>
          </a:p>
          <a:p>
            <a:pPr marL="0" indent="0">
              <a:buNone/>
            </a:pPr>
            <a:r>
              <a:rPr lang="hu-HU" sz="4000" dirty="0" smtClean="0"/>
              <a:t>A </a:t>
            </a:r>
            <a:r>
              <a:rPr lang="hu-HU" sz="4000" dirty="0"/>
              <a:t>rövid héjon áztatás után a cefrét kipréselik, a fehérbornak megfelelően kierjesztik, és bort készítenek belőle.</a:t>
            </a:r>
          </a:p>
          <a:p>
            <a:pPr marL="0" indent="0">
              <a:buNone/>
            </a:pPr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1" y="493413"/>
            <a:ext cx="5850376" cy="367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53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58527"/>
          </a:xfrm>
        </p:spPr>
        <p:txBody>
          <a:bodyPr>
            <a:normAutofit/>
          </a:bodyPr>
          <a:lstStyle/>
          <a:p>
            <a:pPr algn="ctr"/>
            <a:r>
              <a:rPr lang="hu-HU" sz="6000" dirty="0" smtClean="0"/>
              <a:t>A rozé készítése</a:t>
            </a:r>
            <a:br>
              <a:rPr lang="hu-HU" sz="6000" dirty="0" smtClean="0"/>
            </a:br>
            <a:r>
              <a:rPr lang="hu-HU" sz="4800" dirty="0" smtClean="0"/>
              <a:t>jelöld az igaz állítást</a:t>
            </a:r>
            <a:endParaRPr lang="hu-HU" sz="4800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2417295"/>
            <a:ext cx="9467626" cy="4351338"/>
          </a:xfrm>
        </p:spPr>
        <p:txBody>
          <a:bodyPr/>
          <a:lstStyle/>
          <a:p>
            <a:pPr marL="0" indent="0">
              <a:buNone/>
            </a:pPr>
            <a:endParaRPr lang="hu-HU" dirty="0" smtClean="0"/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u-HU" dirty="0" smtClean="0">
                <a:hlinkClick r:id="rId3" action="ppaction://hlinksldjump"/>
              </a:rPr>
              <a:t>A. </a:t>
            </a:r>
            <a:r>
              <a:rPr lang="hu-HU" dirty="0" smtClean="0"/>
              <a:t>Fehér és vörös szőlő megfelelő arányú keverésével készül</a:t>
            </a:r>
            <a:endParaRPr lang="hu-HU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u-HU" dirty="0" smtClean="0">
                <a:hlinkClick r:id="rId4" action="ppaction://hlinksldjump"/>
              </a:rPr>
              <a:t>B. </a:t>
            </a:r>
            <a:r>
              <a:rPr lang="hu-HU" dirty="0" smtClean="0"/>
              <a:t>Csak </a:t>
            </a:r>
            <a:r>
              <a:rPr lang="hu-HU" dirty="0"/>
              <a:t>nagyon rövid ideig, mindössze néhány órán, maximum </a:t>
            </a:r>
            <a:r>
              <a:rPr lang="hu-HU" dirty="0" smtClean="0"/>
              <a:t>1 </a:t>
            </a:r>
            <a:r>
              <a:rPr lang="hu-HU" dirty="0"/>
              <a:t>napon keresztül erjed együtt a bogyó a </a:t>
            </a:r>
            <a:r>
              <a:rPr lang="hu-HU" dirty="0" smtClean="0"/>
              <a:t>héjjal</a:t>
            </a:r>
            <a:endParaRPr lang="hu-HU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u-HU" dirty="0" smtClean="0">
                <a:hlinkClick r:id="rId3" action="ppaction://hlinksldjump"/>
              </a:rPr>
              <a:t>C. </a:t>
            </a:r>
            <a:r>
              <a:rPr lang="hu-HU" dirty="0" smtClean="0"/>
              <a:t>Vörösborhoz kellő víz hozzáadásával készül a rozé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0284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/>
          <p:cNvSpPr txBox="1"/>
          <p:nvPr/>
        </p:nvSpPr>
        <p:spPr>
          <a:xfrm>
            <a:off x="978813" y="3393592"/>
            <a:ext cx="4794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 smtClean="0"/>
              <a:t>Segítségnek itt egy másik ábra.</a:t>
            </a:r>
            <a:endParaRPr lang="hu-HU" sz="2800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276" y="105536"/>
            <a:ext cx="2729710" cy="669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6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92742" y="2538936"/>
            <a:ext cx="10844605" cy="435133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u-HU" dirty="0"/>
              <a:t>A vörösborok a kékszőlő leszüretelése után héjon erjesztéssel készülnek. </a:t>
            </a:r>
            <a:endParaRPr lang="hu-HU" dirty="0" smtClean="0"/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u-HU" dirty="0" smtClean="0"/>
              <a:t>A </a:t>
            </a:r>
            <a:r>
              <a:rPr lang="hu-HU" dirty="0"/>
              <a:t>szőlő a kocsány eltávolítása és a zúzás után erjesztő tartályokba kerül, ahol a szőlő cukortartalma az erjedés során alkohollá alakul át. Ezzel egy időben a tartályban lévő szőlőhéjakból kioldódnak a színanyagok és más zamatanyagok. </a:t>
            </a:r>
            <a:endParaRPr lang="hu-HU" dirty="0" smtClean="0"/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u-HU" dirty="0" smtClean="0"/>
              <a:t>Az </a:t>
            </a:r>
            <a:r>
              <a:rPr lang="hu-HU" dirty="0"/>
              <a:t>erjesztés végén a szőlő szilárd részeit kipréselik, majd fejtések, derítések és szűrések során készül el a vörösbor.</a:t>
            </a:r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47743" y="1051877"/>
            <a:ext cx="5670176" cy="1325563"/>
          </a:xfrm>
        </p:spPr>
        <p:txBody>
          <a:bodyPr/>
          <a:lstStyle/>
          <a:p>
            <a:r>
              <a:rPr lang="hu-HU" dirty="0" smtClean="0"/>
              <a:t>Vörös borok készítése</a:t>
            </a:r>
            <a:endParaRPr lang="hu-HU" dirty="0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560" y="62173"/>
            <a:ext cx="4475182" cy="265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2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125261" y="504079"/>
            <a:ext cx="1227551" cy="86429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203548" y="5553205"/>
            <a:ext cx="1127342" cy="8141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>
            <a:off x="1929008" y="2818356"/>
            <a:ext cx="1402915" cy="1052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/>
          <p:cNvSpPr/>
          <p:nvPr/>
        </p:nvSpPr>
        <p:spPr>
          <a:xfrm>
            <a:off x="4146115" y="66387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/>
          <p:cNvSpPr/>
          <p:nvPr/>
        </p:nvSpPr>
        <p:spPr>
          <a:xfrm>
            <a:off x="4146114" y="206679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/>
          <p:cNvSpPr/>
          <p:nvPr/>
        </p:nvSpPr>
        <p:spPr>
          <a:xfrm>
            <a:off x="4146114" y="362210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/>
          <p:cNvSpPr/>
          <p:nvPr/>
        </p:nvSpPr>
        <p:spPr>
          <a:xfrm>
            <a:off x="4146113" y="528598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/>
          <p:cNvSpPr/>
          <p:nvPr/>
        </p:nvSpPr>
        <p:spPr>
          <a:xfrm>
            <a:off x="5876794" y="29686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/>
          <p:cNvSpPr/>
          <p:nvPr/>
        </p:nvSpPr>
        <p:spPr>
          <a:xfrm>
            <a:off x="7607474" y="2968668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/>
          <p:cNvSpPr/>
          <p:nvPr/>
        </p:nvSpPr>
        <p:spPr>
          <a:xfrm>
            <a:off x="10085537" y="646331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/>
          <p:cNvSpPr/>
          <p:nvPr/>
        </p:nvSpPr>
        <p:spPr>
          <a:xfrm>
            <a:off x="10085538" y="206679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/>
          <p:cNvSpPr/>
          <p:nvPr/>
        </p:nvSpPr>
        <p:spPr>
          <a:xfrm>
            <a:off x="10085538" y="3622109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/>
          <p:cNvSpPr/>
          <p:nvPr/>
        </p:nvSpPr>
        <p:spPr>
          <a:xfrm>
            <a:off x="10085538" y="5177424"/>
            <a:ext cx="1127343" cy="751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Szövegdoboz 16"/>
          <p:cNvSpPr txBox="1"/>
          <p:nvPr/>
        </p:nvSpPr>
        <p:spPr>
          <a:xfrm>
            <a:off x="254173" y="646331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Fehér szőlő</a:t>
            </a:r>
            <a:endParaRPr lang="hu-HU" dirty="0"/>
          </a:p>
        </p:txBody>
      </p:sp>
      <p:sp>
        <p:nvSpPr>
          <p:cNvPr id="18" name="Szövegdoboz 17"/>
          <p:cNvSpPr txBox="1"/>
          <p:nvPr/>
        </p:nvSpPr>
        <p:spPr>
          <a:xfrm>
            <a:off x="267741" y="5636714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Vörös szőlő</a:t>
            </a:r>
            <a:endParaRPr lang="hu-HU" dirty="0"/>
          </a:p>
        </p:txBody>
      </p:sp>
      <p:sp>
        <p:nvSpPr>
          <p:cNvPr id="19" name="Szövegdoboz 18"/>
          <p:cNvSpPr txBox="1"/>
          <p:nvPr/>
        </p:nvSpPr>
        <p:spPr>
          <a:xfrm>
            <a:off x="2174310" y="3021283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Zúzó-bogyózó</a:t>
            </a:r>
            <a:endParaRPr lang="hu-HU" dirty="0"/>
          </a:p>
        </p:txBody>
      </p:sp>
      <p:sp>
        <p:nvSpPr>
          <p:cNvPr id="20" name="Szövegdoboz 19"/>
          <p:cNvSpPr txBox="1"/>
          <p:nvPr/>
        </p:nvSpPr>
        <p:spPr>
          <a:xfrm>
            <a:off x="4215006" y="613062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Áztatás illatos szőlő 0-24h</a:t>
            </a:r>
            <a:endParaRPr lang="hu-HU" sz="1200" dirty="0"/>
          </a:p>
        </p:txBody>
      </p:sp>
      <p:sp>
        <p:nvSpPr>
          <p:cNvPr id="21" name="Szövegdoboz 20"/>
          <p:cNvSpPr txBox="1"/>
          <p:nvPr/>
        </p:nvSpPr>
        <p:spPr>
          <a:xfrm>
            <a:off x="4146113" y="2267687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Sajtoló</a:t>
            </a:r>
            <a:endParaRPr lang="hu-HU" dirty="0"/>
          </a:p>
        </p:txBody>
      </p:sp>
      <p:sp>
        <p:nvSpPr>
          <p:cNvPr id="22" name="Szövegdoboz 21"/>
          <p:cNvSpPr txBox="1"/>
          <p:nvPr/>
        </p:nvSpPr>
        <p:spPr>
          <a:xfrm>
            <a:off x="4146113" y="3631359"/>
            <a:ext cx="112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 smtClean="0"/>
              <a:t>Áztatás-</a:t>
            </a:r>
          </a:p>
          <a:p>
            <a:pPr algn="ctr"/>
            <a:r>
              <a:rPr lang="hu-HU" sz="1200" dirty="0" smtClean="0"/>
              <a:t>erjesztés </a:t>
            </a:r>
          </a:p>
          <a:p>
            <a:pPr algn="ctr"/>
            <a:r>
              <a:rPr lang="hu-HU" sz="1200" dirty="0" smtClean="0"/>
              <a:t>vörös szőlő</a:t>
            </a:r>
            <a:endParaRPr lang="hu-HU" sz="1200" dirty="0"/>
          </a:p>
        </p:txBody>
      </p:sp>
      <p:sp>
        <p:nvSpPr>
          <p:cNvPr id="23" name="Szövegdoboz 22"/>
          <p:cNvSpPr txBox="1"/>
          <p:nvPr/>
        </p:nvSpPr>
        <p:spPr>
          <a:xfrm>
            <a:off x="4215006" y="5186674"/>
            <a:ext cx="9895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Rose áztatás 0-24h</a:t>
            </a:r>
            <a:endParaRPr lang="hu-HU" dirty="0"/>
          </a:p>
        </p:txBody>
      </p:sp>
      <p:sp>
        <p:nvSpPr>
          <p:cNvPr id="24" name="Szövegdoboz 23"/>
          <p:cNvSpPr txBox="1"/>
          <p:nvPr/>
        </p:nvSpPr>
        <p:spPr>
          <a:xfrm>
            <a:off x="5945687" y="3159782"/>
            <a:ext cx="105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Erjesztés</a:t>
            </a:r>
            <a:endParaRPr lang="hu-HU" dirty="0"/>
          </a:p>
        </p:txBody>
      </p:sp>
      <p:sp>
        <p:nvSpPr>
          <p:cNvPr id="25" name="Szövegdoboz 24"/>
          <p:cNvSpPr txBox="1"/>
          <p:nvPr/>
        </p:nvSpPr>
        <p:spPr>
          <a:xfrm>
            <a:off x="7649226" y="3030111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Fejtés</a:t>
            </a:r>
            <a:endParaRPr lang="hu-HU" dirty="0"/>
          </a:p>
        </p:txBody>
      </p:sp>
      <p:sp>
        <p:nvSpPr>
          <p:cNvPr id="26" name="Szövegdoboz 25"/>
          <p:cNvSpPr txBox="1"/>
          <p:nvPr/>
        </p:nvSpPr>
        <p:spPr>
          <a:xfrm>
            <a:off x="10154430" y="646331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Fehér bor</a:t>
            </a:r>
            <a:endParaRPr lang="hu-HU" dirty="0"/>
          </a:p>
        </p:txBody>
      </p:sp>
      <p:sp>
        <p:nvSpPr>
          <p:cNvPr id="27" name="Szövegdoboz 26"/>
          <p:cNvSpPr txBox="1"/>
          <p:nvPr/>
        </p:nvSpPr>
        <p:spPr>
          <a:xfrm>
            <a:off x="10085537" y="2066794"/>
            <a:ext cx="112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Illatos fehérbor</a:t>
            </a:r>
            <a:endParaRPr lang="hu-HU" dirty="0"/>
          </a:p>
        </p:txBody>
      </p:sp>
      <p:sp>
        <p:nvSpPr>
          <p:cNvPr id="28" name="Szövegdoboz 27"/>
          <p:cNvSpPr txBox="1"/>
          <p:nvPr/>
        </p:nvSpPr>
        <p:spPr>
          <a:xfrm>
            <a:off x="10085537" y="3631359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ROSE bor</a:t>
            </a:r>
            <a:endParaRPr lang="hu-HU" dirty="0"/>
          </a:p>
        </p:txBody>
      </p:sp>
      <p:sp>
        <p:nvSpPr>
          <p:cNvPr id="29" name="Szövegdoboz 28"/>
          <p:cNvSpPr txBox="1"/>
          <p:nvPr/>
        </p:nvSpPr>
        <p:spPr>
          <a:xfrm>
            <a:off x="10154430" y="5195924"/>
            <a:ext cx="98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Vörös bor</a:t>
            </a:r>
            <a:endParaRPr lang="hu-HU" dirty="0"/>
          </a:p>
        </p:txBody>
      </p:sp>
      <p:cxnSp>
        <p:nvCxnSpPr>
          <p:cNvPr id="31" name="Egyenes összekötő nyíllal 30"/>
          <p:cNvCxnSpPr>
            <a:stCxn id="4" idx="3"/>
          </p:cNvCxnSpPr>
          <p:nvPr/>
        </p:nvCxnSpPr>
        <p:spPr>
          <a:xfrm>
            <a:off x="1352812" y="936227"/>
            <a:ext cx="576196" cy="18821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Egyenes összekötő nyíllal 32"/>
          <p:cNvCxnSpPr/>
          <p:nvPr/>
        </p:nvCxnSpPr>
        <p:spPr>
          <a:xfrm flipV="1">
            <a:off x="1360638" y="3879792"/>
            <a:ext cx="568370" cy="21577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Egyenes összekötő nyíllal 34"/>
          <p:cNvCxnSpPr/>
          <p:nvPr/>
        </p:nvCxnSpPr>
        <p:spPr>
          <a:xfrm flipV="1">
            <a:off x="3331923" y="1415441"/>
            <a:ext cx="814190" cy="14029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Egyenes összekötő nyíllal 36"/>
          <p:cNvCxnSpPr>
            <a:stCxn id="6" idx="3"/>
            <a:endCxn id="8" idx="1"/>
          </p:cNvCxnSpPr>
          <p:nvPr/>
        </p:nvCxnSpPr>
        <p:spPr>
          <a:xfrm flipV="1">
            <a:off x="3331923" y="2442575"/>
            <a:ext cx="814191" cy="9018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Egyenes összekötő nyíllal 38"/>
          <p:cNvCxnSpPr>
            <a:endCxn id="9" idx="1"/>
          </p:cNvCxnSpPr>
          <p:nvPr/>
        </p:nvCxnSpPr>
        <p:spPr>
          <a:xfrm>
            <a:off x="3331923" y="3592882"/>
            <a:ext cx="814191" cy="405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Egyenes összekötő nyíllal 41"/>
          <p:cNvCxnSpPr>
            <a:endCxn id="10" idx="1"/>
          </p:cNvCxnSpPr>
          <p:nvPr/>
        </p:nvCxnSpPr>
        <p:spPr>
          <a:xfrm>
            <a:off x="3163866" y="3879792"/>
            <a:ext cx="982247" cy="1781973"/>
          </a:xfrm>
          <a:prstGeom prst="straightConnector1">
            <a:avLst/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Egyenes összekötő nyíllal 44"/>
          <p:cNvCxnSpPr>
            <a:stCxn id="7" idx="2"/>
            <a:endCxn id="8" idx="0"/>
          </p:cNvCxnSpPr>
          <p:nvPr/>
        </p:nvCxnSpPr>
        <p:spPr>
          <a:xfrm flipH="1">
            <a:off x="4709786" y="1415441"/>
            <a:ext cx="1" cy="651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9" name="Egyenes összekötő nyíllal 48"/>
          <p:cNvCxnSpPr>
            <a:stCxn id="22" idx="0"/>
            <a:endCxn id="8" idx="2"/>
          </p:cNvCxnSpPr>
          <p:nvPr/>
        </p:nvCxnSpPr>
        <p:spPr>
          <a:xfrm flipV="1">
            <a:off x="4709785" y="2818356"/>
            <a:ext cx="1" cy="8130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zögletes összekötő 50"/>
          <p:cNvCxnSpPr>
            <a:stCxn id="10" idx="3"/>
          </p:cNvCxnSpPr>
          <p:nvPr/>
        </p:nvCxnSpPr>
        <p:spPr>
          <a:xfrm flipH="1" flipV="1">
            <a:off x="4894546" y="2818356"/>
            <a:ext cx="378910" cy="2843409"/>
          </a:xfrm>
          <a:prstGeom prst="bentConnector4">
            <a:avLst>
              <a:gd name="adj1" fmla="val -60331"/>
              <a:gd name="adj2" fmla="val 75110"/>
            </a:avLst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zögletes összekötő 53"/>
          <p:cNvCxnSpPr>
            <a:stCxn id="8" idx="3"/>
          </p:cNvCxnSpPr>
          <p:nvPr/>
        </p:nvCxnSpPr>
        <p:spPr>
          <a:xfrm>
            <a:off x="5273457" y="2442575"/>
            <a:ext cx="603336" cy="5787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7" name="Szögletes összekötő 56"/>
          <p:cNvCxnSpPr>
            <a:endCxn id="12" idx="0"/>
          </p:cNvCxnSpPr>
          <p:nvPr/>
        </p:nvCxnSpPr>
        <p:spPr>
          <a:xfrm>
            <a:off x="5273456" y="2251460"/>
            <a:ext cx="2897690" cy="71720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Egyenes összekötő nyíllal 63"/>
          <p:cNvCxnSpPr/>
          <p:nvPr/>
        </p:nvCxnSpPr>
        <p:spPr>
          <a:xfrm>
            <a:off x="7004137" y="3159782"/>
            <a:ext cx="6033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Egyenes összekötő nyíllal 65"/>
          <p:cNvCxnSpPr>
            <a:endCxn id="13" idx="1"/>
          </p:cNvCxnSpPr>
          <p:nvPr/>
        </p:nvCxnSpPr>
        <p:spPr>
          <a:xfrm flipV="1">
            <a:off x="8734817" y="1022112"/>
            <a:ext cx="1350720" cy="20079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8" name="Egyenes összekötő nyíllal 67"/>
          <p:cNvCxnSpPr>
            <a:endCxn id="14" idx="1"/>
          </p:cNvCxnSpPr>
          <p:nvPr/>
        </p:nvCxnSpPr>
        <p:spPr>
          <a:xfrm flipV="1">
            <a:off x="8734817" y="2442575"/>
            <a:ext cx="1350721" cy="782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Egyenes összekötő nyíllal 69"/>
          <p:cNvCxnSpPr>
            <a:endCxn id="15" idx="1"/>
          </p:cNvCxnSpPr>
          <p:nvPr/>
        </p:nvCxnSpPr>
        <p:spPr>
          <a:xfrm>
            <a:off x="8734817" y="3529114"/>
            <a:ext cx="1350721" cy="468776"/>
          </a:xfrm>
          <a:prstGeom prst="straightConnector1">
            <a:avLst/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Egyenes összekötő nyíllal 71"/>
          <p:cNvCxnSpPr>
            <a:endCxn id="16" idx="1"/>
          </p:cNvCxnSpPr>
          <p:nvPr/>
        </p:nvCxnSpPr>
        <p:spPr>
          <a:xfrm>
            <a:off x="8734817" y="3727340"/>
            <a:ext cx="1350721" cy="18258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Téglalap 72"/>
          <p:cNvSpPr/>
          <p:nvPr/>
        </p:nvSpPr>
        <p:spPr>
          <a:xfrm>
            <a:off x="76203" y="2868314"/>
            <a:ext cx="1221287" cy="8797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4" name="Szövegdoboz 73"/>
          <p:cNvSpPr txBox="1"/>
          <p:nvPr/>
        </p:nvSpPr>
        <p:spPr>
          <a:xfrm>
            <a:off x="306887" y="2846527"/>
            <a:ext cx="805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Illatos  fehér szőlő</a:t>
            </a:r>
            <a:endParaRPr lang="hu-HU" dirty="0"/>
          </a:p>
        </p:txBody>
      </p:sp>
      <p:cxnSp>
        <p:nvCxnSpPr>
          <p:cNvPr id="78" name="Egyenes összekötő nyíllal 77"/>
          <p:cNvCxnSpPr>
            <a:stCxn id="73" idx="3"/>
            <a:endCxn id="6" idx="1"/>
          </p:cNvCxnSpPr>
          <p:nvPr/>
        </p:nvCxnSpPr>
        <p:spPr>
          <a:xfrm>
            <a:off x="1297490" y="3308193"/>
            <a:ext cx="631518" cy="362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1" name="Szövegdoboz 80"/>
          <p:cNvSpPr txBox="1"/>
          <p:nvPr/>
        </p:nvSpPr>
        <p:spPr>
          <a:xfrm>
            <a:off x="3808955" y="6391500"/>
            <a:ext cx="353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Powered </a:t>
            </a:r>
            <a:r>
              <a:rPr lang="hu-HU" dirty="0" err="1" smtClean="0"/>
              <a:t>by</a:t>
            </a:r>
            <a:r>
              <a:rPr lang="hu-HU" dirty="0" smtClean="0"/>
              <a:t> Bernát </a:t>
            </a:r>
            <a:r>
              <a:rPr lang="hu-HU" dirty="0" smtClean="0">
                <a:sym typeface="Wingdings" panose="05000000000000000000" pitchFamily="2" charset="2"/>
              </a:rPr>
              <a:t></a:t>
            </a:r>
            <a:endParaRPr lang="hu-HU" dirty="0"/>
          </a:p>
        </p:txBody>
      </p:sp>
      <p:sp>
        <p:nvSpPr>
          <p:cNvPr id="82" name="Szövegdoboz 81"/>
          <p:cNvSpPr txBox="1"/>
          <p:nvPr/>
        </p:nvSpPr>
        <p:spPr>
          <a:xfrm>
            <a:off x="3163865" y="11099"/>
            <a:ext cx="50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smtClean="0"/>
              <a:t>Szőlő Feldolgozás folyamatábrák egyben</a:t>
            </a:r>
            <a:endParaRPr lang="hu-HU" b="1" dirty="0"/>
          </a:p>
        </p:txBody>
      </p:sp>
      <p:cxnSp>
        <p:nvCxnSpPr>
          <p:cNvPr id="88" name="Szögletes összekötő 87"/>
          <p:cNvCxnSpPr/>
          <p:nvPr/>
        </p:nvCxnSpPr>
        <p:spPr>
          <a:xfrm>
            <a:off x="5273456" y="2610064"/>
            <a:ext cx="603337" cy="549718"/>
          </a:xfrm>
          <a:prstGeom prst="bentConnector3">
            <a:avLst>
              <a:gd name="adj1" fmla="val 29239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4" name="Egyenes összekötő nyíllal 93"/>
          <p:cNvCxnSpPr>
            <a:stCxn id="11" idx="3"/>
            <a:endCxn id="12" idx="1"/>
          </p:cNvCxnSpPr>
          <p:nvPr/>
        </p:nvCxnSpPr>
        <p:spPr>
          <a:xfrm>
            <a:off x="7004137" y="3344449"/>
            <a:ext cx="6033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6" name="Szögletes összekötő 95"/>
          <p:cNvCxnSpPr/>
          <p:nvPr/>
        </p:nvCxnSpPr>
        <p:spPr>
          <a:xfrm>
            <a:off x="5231704" y="2757965"/>
            <a:ext cx="729644" cy="599996"/>
          </a:xfrm>
          <a:prstGeom prst="bentConnector3">
            <a:avLst>
              <a:gd name="adj1" fmla="val 15665"/>
            </a:avLst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Egyenes összekötő nyíllal 100"/>
          <p:cNvCxnSpPr/>
          <p:nvPr/>
        </p:nvCxnSpPr>
        <p:spPr>
          <a:xfrm>
            <a:off x="7004137" y="3529114"/>
            <a:ext cx="603337" cy="0"/>
          </a:xfrm>
          <a:prstGeom prst="straightConnector1">
            <a:avLst/>
          </a:prstGeom>
          <a:ln>
            <a:solidFill>
              <a:srgbClr val="E462DB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02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220590"/>
            <a:ext cx="10515600" cy="1325563"/>
          </a:xfrm>
        </p:spPr>
        <p:txBody>
          <a:bodyPr/>
          <a:lstStyle/>
          <a:p>
            <a:r>
              <a:rPr lang="hu-HU" dirty="0" smtClean="0"/>
              <a:t>Melyik tevékenység sorozat után lesz a kék szőlőből bor?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34702" y="3872753"/>
            <a:ext cx="10719098" cy="243122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u-HU" dirty="0" smtClean="0">
                <a:hlinkClick r:id="rId2" action="ppaction://hlinksldjump"/>
              </a:rPr>
              <a:t>A. </a:t>
            </a:r>
            <a:r>
              <a:rPr lang="hu-HU" dirty="0"/>
              <a:t>Zúzó-</a:t>
            </a:r>
            <a:r>
              <a:rPr lang="hu-HU" dirty="0" err="1"/>
              <a:t>bogyózó</a:t>
            </a:r>
            <a:r>
              <a:rPr lang="hu-HU" dirty="0"/>
              <a:t> – sajtolás – áztatás – erjesztés </a:t>
            </a:r>
            <a:r>
              <a:rPr lang="hu-HU" dirty="0" smtClean="0"/>
              <a:t>– ülepítés </a:t>
            </a:r>
            <a:r>
              <a:rPr lang="hu-HU" dirty="0"/>
              <a:t>–</a:t>
            </a:r>
            <a:r>
              <a:rPr lang="hu-HU" dirty="0" smtClean="0"/>
              <a:t> fejtés </a:t>
            </a:r>
            <a:r>
              <a:rPr lang="hu-HU" dirty="0"/>
              <a:t>– </a:t>
            </a:r>
            <a:r>
              <a:rPr lang="hu-HU" dirty="0" smtClean="0"/>
              <a:t>palackozás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u-HU" dirty="0" smtClean="0">
                <a:hlinkClick r:id="rId2" action="ppaction://hlinksldjump"/>
              </a:rPr>
              <a:t>B.</a:t>
            </a:r>
            <a:r>
              <a:rPr lang="hu-HU" dirty="0" smtClean="0">
                <a:hlinkClick r:id="rId3" action="ppaction://hlinksldjump"/>
              </a:rPr>
              <a:t> </a:t>
            </a:r>
            <a:r>
              <a:rPr lang="hu-HU" dirty="0" smtClean="0"/>
              <a:t>Zúzó-</a:t>
            </a:r>
            <a:r>
              <a:rPr lang="hu-HU" dirty="0" err="1" smtClean="0"/>
              <a:t>bogyózó</a:t>
            </a:r>
            <a:r>
              <a:rPr lang="hu-HU" dirty="0" smtClean="0"/>
              <a:t> – áztatás – erjesztés – sajtolás </a:t>
            </a:r>
            <a:r>
              <a:rPr lang="hu-HU" dirty="0"/>
              <a:t>– ülepítés </a:t>
            </a:r>
            <a:r>
              <a:rPr lang="hu-HU" dirty="0" smtClean="0"/>
              <a:t>– fejtés – palackozás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u-HU" dirty="0" smtClean="0">
                <a:hlinkClick r:id="rId3" action="ppaction://hlinksldjump"/>
              </a:rPr>
              <a:t>C. </a:t>
            </a:r>
            <a:r>
              <a:rPr lang="hu-HU" dirty="0" smtClean="0"/>
              <a:t>Zúzó-</a:t>
            </a:r>
            <a:r>
              <a:rPr lang="hu-HU" dirty="0" err="1" smtClean="0"/>
              <a:t>bogyózó</a:t>
            </a:r>
            <a:r>
              <a:rPr lang="hu-HU" dirty="0" smtClean="0"/>
              <a:t> </a:t>
            </a:r>
            <a:r>
              <a:rPr lang="hu-HU" dirty="0"/>
              <a:t>– áztatás, erjesztés – sajtolás – ülepítés </a:t>
            </a:r>
            <a:r>
              <a:rPr lang="hu-HU" dirty="0" smtClean="0"/>
              <a:t>– </a:t>
            </a:r>
            <a:r>
              <a:rPr lang="hu-HU" dirty="0"/>
              <a:t>fejtés – palackozás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057" y="776118"/>
            <a:ext cx="7637929" cy="337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1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082" y="0"/>
            <a:ext cx="5674918" cy="3786234"/>
          </a:xfrm>
          <a:prstGeom prst="rect">
            <a:avLst/>
          </a:prstGeom>
        </p:spPr>
      </p:pic>
      <p:sp>
        <p:nvSpPr>
          <p:cNvPr id="4" name="Cím 3"/>
          <p:cNvSpPr>
            <a:spLocks noGrp="1"/>
          </p:cNvSpPr>
          <p:nvPr>
            <p:ph type="title"/>
          </p:nvPr>
        </p:nvSpPr>
        <p:spPr>
          <a:xfrm>
            <a:off x="236220" y="382127"/>
            <a:ext cx="7186557" cy="3259566"/>
          </a:xfrm>
        </p:spPr>
        <p:txBody>
          <a:bodyPr>
            <a:noAutofit/>
          </a:bodyPr>
          <a:lstStyle/>
          <a:p>
            <a:pPr algn="ctr"/>
            <a:r>
              <a:rPr lang="hu-HU" sz="6000" dirty="0" smtClean="0"/>
              <a:t>Gratulálok! </a:t>
            </a:r>
            <a:br>
              <a:rPr lang="hu-HU" sz="6000" dirty="0" smtClean="0"/>
            </a:br>
            <a:r>
              <a:rPr lang="hu-HU" sz="6000" dirty="0" smtClean="0"/>
              <a:t>Sikeresen eljutottál a</a:t>
            </a:r>
            <a:br>
              <a:rPr lang="hu-HU" sz="6000" dirty="0" smtClean="0"/>
            </a:br>
            <a:r>
              <a:rPr lang="hu-HU" sz="6000" dirty="0" smtClean="0"/>
              <a:t> „</a:t>
            </a:r>
            <a:r>
              <a:rPr lang="hu-HU" sz="6000" b="1" dirty="0" smtClean="0"/>
              <a:t>Szőlőtől a borig</a:t>
            </a:r>
            <a:r>
              <a:rPr lang="hu-HU" sz="6000" dirty="0" smtClean="0"/>
              <a:t>” </a:t>
            </a:r>
            <a:br>
              <a:rPr lang="hu-HU" sz="6000" dirty="0" smtClean="0"/>
            </a:br>
            <a:r>
              <a:rPr lang="hu-HU" sz="6000" dirty="0" smtClean="0"/>
              <a:t>játékunk végére</a:t>
            </a:r>
            <a:endParaRPr lang="hu-HU" sz="6000" dirty="0"/>
          </a:p>
        </p:txBody>
      </p:sp>
      <p:sp>
        <p:nvSpPr>
          <p:cNvPr id="5" name="Tartalom helye 4"/>
          <p:cNvSpPr>
            <a:spLocks noGrp="1"/>
          </p:cNvSpPr>
          <p:nvPr>
            <p:ph idx="1"/>
          </p:nvPr>
        </p:nvSpPr>
        <p:spPr>
          <a:xfrm>
            <a:off x="590774" y="5013064"/>
            <a:ext cx="10515600" cy="2345167"/>
          </a:xfrm>
        </p:spPr>
        <p:txBody>
          <a:bodyPr/>
          <a:lstStyle/>
          <a:p>
            <a:pPr marL="0" indent="0">
              <a:buNone/>
            </a:pPr>
            <a:r>
              <a:rPr lang="hu-HU" dirty="0" smtClean="0"/>
              <a:t>Ha szeretsz játszani, látogass el iskolánk honlapján található </a:t>
            </a:r>
            <a:br>
              <a:rPr lang="hu-HU" dirty="0" smtClean="0"/>
            </a:br>
            <a:r>
              <a:rPr lang="hu-HU" dirty="0" smtClean="0"/>
              <a:t>„</a:t>
            </a:r>
            <a:r>
              <a:rPr lang="hu-HU" dirty="0" smtClean="0">
                <a:hlinkClick r:id="rId3"/>
              </a:rPr>
              <a:t>Szabadulj be a </a:t>
            </a:r>
            <a:r>
              <a:rPr lang="hu-HU" dirty="0" err="1" smtClean="0">
                <a:hlinkClick r:id="rId3"/>
              </a:rPr>
              <a:t>Mathiászba</a:t>
            </a:r>
            <a:r>
              <a:rPr lang="hu-HU" dirty="0" smtClean="0"/>
              <a:t>” játékhoz, ahol megismerheted milyen más képzéseket tudunk még felajánlani.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4394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15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711</Words>
  <Application>Microsoft Office PowerPoint</Application>
  <PresentationFormat>Szélesvásznú</PresentationFormat>
  <Paragraphs>165</Paragraphs>
  <Slides>22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Office-téma</vt:lpstr>
      <vt:lpstr>Szőlőtől a borig A játék készült a Mathiász nyílt napra</vt:lpstr>
      <vt:lpstr>PowerPoint-bemutató</vt:lpstr>
      <vt:lpstr>PowerPoint-bemutató</vt:lpstr>
      <vt:lpstr>PowerPoint-bemutató</vt:lpstr>
      <vt:lpstr>Fehérbor készítése</vt:lpstr>
      <vt:lpstr>Hogyan készül a fehérbor? Melyik folyamat után mi következik? Jelöld be az igaz választ!</vt:lpstr>
      <vt:lpstr>Miből készítenek fehérbort?</vt:lpstr>
      <vt:lpstr>Egyes illatos borfajták készítése</vt:lpstr>
      <vt:lpstr>Érdekesebb szőlők</vt:lpstr>
      <vt:lpstr>Melyik szőlők nem adják az illatos fehérbor alapanyagát?  Az egyik felsorolás hibás!</vt:lpstr>
      <vt:lpstr>PowerPoint-bemutató</vt:lpstr>
      <vt:lpstr>Illatos borok készítésének lépései csak az egyik válasz a jó</vt:lpstr>
      <vt:lpstr>Rozé bor,  termőföldtől  az asztalig </vt:lpstr>
      <vt:lpstr>PowerPoint-bemutató</vt:lpstr>
      <vt:lpstr>A Rozé készítése</vt:lpstr>
      <vt:lpstr>A rozé készítése jelöld az igaz állítást</vt:lpstr>
      <vt:lpstr>PowerPoint-bemutató</vt:lpstr>
      <vt:lpstr>Vörös borok készítése</vt:lpstr>
      <vt:lpstr>PowerPoint-bemutató</vt:lpstr>
      <vt:lpstr>Melyik tevékenység sorozat után lesz a kék szőlőből bor?</vt:lpstr>
      <vt:lpstr>Gratulálok!  Sikeresen eljutottál a  „Szőlőtől a borig”  játékunk végére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Tanár</dc:creator>
  <cp:lastModifiedBy>Jezi Ani</cp:lastModifiedBy>
  <cp:revision>49</cp:revision>
  <dcterms:created xsi:type="dcterms:W3CDTF">2020-02-28T07:43:32Z</dcterms:created>
  <dcterms:modified xsi:type="dcterms:W3CDTF">2021-10-15T18:17:58Z</dcterms:modified>
</cp:coreProperties>
</file>